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6" r:id="rId5"/>
    <p:sldId id="258" r:id="rId6"/>
    <p:sldId id="302" r:id="rId7"/>
    <p:sldId id="301" r:id="rId8"/>
    <p:sldId id="270" r:id="rId9"/>
    <p:sldId id="299" r:id="rId10"/>
    <p:sldId id="272" r:id="rId11"/>
    <p:sldId id="266" r:id="rId12"/>
    <p:sldId id="300" r:id="rId13"/>
    <p:sldId id="284" r:id="rId14"/>
    <p:sldId id="285" r:id="rId15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7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3B5C"/>
    <a:srgbClr val="062A42"/>
    <a:srgbClr val="0A2B42"/>
    <a:srgbClr val="282B42"/>
    <a:srgbClr val="006699"/>
    <a:srgbClr val="0C3048"/>
    <a:srgbClr val="083451"/>
    <a:srgbClr val="0A2E46"/>
    <a:srgbClr val="0E4061"/>
    <a:srgbClr val="0D4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17" autoAdjust="0"/>
    <p:restoredTop sz="94630" autoAdjust="0"/>
  </p:normalViewPr>
  <p:slideViewPr>
    <p:cSldViewPr snapToGrid="0" showGuides="1">
      <p:cViewPr varScale="1">
        <p:scale>
          <a:sx n="108" d="100"/>
          <a:sy n="108" d="100"/>
        </p:scale>
        <p:origin x="852" y="108"/>
      </p:cViewPr>
      <p:guideLst>
        <p:guide orient="horz" pos="2156"/>
        <p:guide pos="37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4" d="100"/>
        <a:sy n="4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37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5DBC6-38D0-498A-8F0B-8BC9AF8263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DF715-C661-4A4B-BB5A-CE67FF75319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4DF715-C661-4A4B-BB5A-CE67FF75319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2D831D-0604-41F7-A337-F1AC1257C2F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4AC72-BA51-437E-8D85-A7DD916C431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86113" y="2843321"/>
            <a:ext cx="5819775" cy="1445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面向编程的</a:t>
            </a:r>
            <a:r>
              <a:rPr lang="en-US" altLang="zh-CN" sz="4400" b="1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4400" b="1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答疑系统</a:t>
            </a:r>
            <a:endParaRPr lang="zh-CN" altLang="en-US" sz="4400" b="1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4400" b="1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的设计与开发</a:t>
            </a:r>
            <a:endParaRPr lang="zh-CN" altLang="en-US" sz="4400" b="1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51674" y="2394451"/>
            <a:ext cx="688848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浙江理工大学计算机科学与技术学院（人工智能学院）</a:t>
            </a:r>
            <a:endParaRPr lang="zh-CN" altLang="en-US" sz="22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849913" y="4613154"/>
            <a:ext cx="4492174" cy="369332"/>
          </a:xfrm>
          <a:prstGeom prst="roundRect">
            <a:avLst>
              <a:gd name="adj" fmla="val 50000"/>
            </a:avLst>
          </a:prstGeom>
          <a:solidFill>
            <a:srgbClr val="093B5C"/>
          </a:solidFill>
          <a:ln w="254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" name="文本框 14"/>
          <p:cNvSpPr txBox="1"/>
          <p:nvPr/>
        </p:nvSpPr>
        <p:spPr>
          <a:xfrm>
            <a:off x="4153923" y="4615059"/>
            <a:ext cx="388366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答辩人：汤宇涛    指导老师：叶海荣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Freeform 5"/>
          <p:cNvSpPr>
            <a:spLocks noChangeAspect="1"/>
          </p:cNvSpPr>
          <p:nvPr/>
        </p:nvSpPr>
        <p:spPr bwMode="auto">
          <a:xfrm>
            <a:off x="4476157" y="-1452390"/>
            <a:ext cx="3239687" cy="3678406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pic>
        <p:nvPicPr>
          <p:cNvPr id="5" name="图片 4" descr="微信图片_20230306154617副本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5080" y="201295"/>
            <a:ext cx="1804035" cy="1868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2" grpId="0"/>
      <p:bldP spid="12" grpId="1"/>
      <p:bldP spid="14" grpId="0"/>
      <p:bldP spid="14" grpId="1"/>
      <p:bldP spid="22" grpId="0" bldLvl="0" animBg="1"/>
      <p:bldP spid="22" grpId="1" bldLvl="0" animBg="1"/>
      <p:bldP spid="22" grpId="2" bldLvl="0" animBg="1"/>
      <p:bldP spid="15" grpId="0"/>
      <p:bldP spid="15" grpId="1"/>
      <p:bldP spid="15" grpId="2"/>
      <p:bldP spid="13" grpId="0" animBg="1"/>
      <p:bldP spid="13" grpId="1" animBg="1"/>
      <p:bldP spid="13" grpId="2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6206490" y="2152650"/>
            <a:ext cx="2856865" cy="5067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01 / </a:t>
            </a:r>
            <a:r>
              <a:rPr lang="zh-CN" altLang="en-US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选题研究意义</a:t>
            </a:r>
            <a:endParaRPr lang="zh-CN" altLang="en-US" sz="22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spcAft>
                <a:spcPts val="0"/>
              </a:spcAft>
              <a:defRPr/>
            </a:pPr>
            <a:r>
              <a:rPr lang="en-US" altLang="zh-CN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22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6206490" y="2921000"/>
            <a:ext cx="3154680" cy="6965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02 / </a:t>
            </a:r>
            <a:r>
              <a:rPr lang="zh-CN" altLang="en-US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研究的基本内容</a:t>
            </a:r>
            <a:endParaRPr lang="zh-CN" altLang="en-US" sz="22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/>
            </a:pPr>
            <a:endParaRPr lang="zh-CN" altLang="en-US" sz="22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6206490" y="3764915"/>
            <a:ext cx="3491865" cy="6165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03 / </a:t>
            </a:r>
            <a:r>
              <a:rPr lang="zh-CN" altLang="en-US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总体研究思路</a:t>
            </a:r>
            <a:endParaRPr lang="zh-CN" altLang="en-US" sz="22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  <a:defRPr/>
            </a:pPr>
            <a:endParaRPr lang="zh-CN" altLang="en-US" sz="22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Freeform 5"/>
          <p:cNvSpPr/>
          <p:nvPr/>
        </p:nvSpPr>
        <p:spPr bwMode="auto">
          <a:xfrm>
            <a:off x="2346125" y="2177881"/>
            <a:ext cx="2203800" cy="2502239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5" name="Freeform 5"/>
          <p:cNvSpPr/>
          <p:nvPr/>
        </p:nvSpPr>
        <p:spPr bwMode="auto">
          <a:xfrm>
            <a:off x="1847682" y="1611939"/>
            <a:ext cx="3200686" cy="3634123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59"/>
          <p:cNvSpPr txBox="1">
            <a:spLocks noChangeArrowheads="1"/>
          </p:cNvSpPr>
          <p:nvPr/>
        </p:nvSpPr>
        <p:spPr bwMode="auto">
          <a:xfrm flipH="1">
            <a:off x="2339090" y="2921169"/>
            <a:ext cx="2217871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36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 sz="24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en-US" altLang="ko-KR" sz="24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6490" y="4539615"/>
            <a:ext cx="3154045" cy="686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04 / </a:t>
            </a:r>
            <a:r>
              <a:rPr lang="zh-CN" altLang="en-US" sz="22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预期研究成果</a:t>
            </a:r>
            <a:endParaRPr lang="zh-CN" altLang="en-US" sz="22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sz="22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50" grpId="0"/>
      <p:bldP spid="52" grpId="0"/>
      <p:bldP spid="53" grpId="0"/>
      <p:bldP spid="5" grpId="0" animBg="1"/>
      <p:bldP spid="5" grpId="1" animBg="1"/>
      <p:bldP spid="5" grpId="2" animBg="1"/>
      <p:bldP spid="15" grpId="0" animBg="1"/>
      <p:bldP spid="15" grpId="1" animBg="1"/>
      <p:bldP spid="15" grpId="2" animBg="1"/>
      <p:bldP spid="45" grpId="0"/>
      <p:bldP spid="45" grpId="1"/>
      <p:bldP spid="45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1625600" y="3429000"/>
            <a:ext cx="894143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zh-CN" altLang="en-US" sz="44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选题研究意义</a:t>
            </a:r>
            <a:endParaRPr lang="zh-CN" altLang="en-US" sz="4400" b="1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5"/>
          <p:cNvSpPr/>
          <p:nvPr/>
        </p:nvSpPr>
        <p:spPr bwMode="auto">
          <a:xfrm>
            <a:off x="4454430" y="-1323744"/>
            <a:ext cx="3283140" cy="3727743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Freeform 5"/>
          <p:cNvSpPr/>
          <p:nvPr/>
        </p:nvSpPr>
        <p:spPr bwMode="auto">
          <a:xfrm>
            <a:off x="4065249" y="-1765627"/>
            <a:ext cx="4061502" cy="4611510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12"/>
          <p:cNvSpPr txBox="1">
            <a:spLocks noChangeArrowheads="1"/>
          </p:cNvSpPr>
          <p:nvPr/>
        </p:nvSpPr>
        <p:spPr bwMode="auto">
          <a:xfrm>
            <a:off x="5424469" y="18024"/>
            <a:ext cx="1343062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12000" b="1" dirty="0">
                <a:solidFill>
                  <a:schemeClr val="bg1"/>
                </a:solidFill>
                <a:latin typeface="AgencyFB" panose="02000806040000020003" pitchFamily="2" charset="0"/>
                <a:ea typeface="微软雅黑" panose="020B0503020204020204" pitchFamily="34" charset="-122"/>
              </a:rPr>
              <a:t>1</a:t>
            </a:r>
            <a:endParaRPr lang="en-US" altLang="zh-CN" sz="12000" b="1" dirty="0">
              <a:solidFill>
                <a:schemeClr val="bg1"/>
              </a:solidFill>
              <a:latin typeface="AgencyFB" panose="02000806040000020003" pitchFamily="2" charset="0"/>
              <a:ea typeface="微软雅黑" panose="020B0503020204020204" pitchFamily="34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5176768" y="1629977"/>
            <a:ext cx="18384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ONE</a:t>
            </a:r>
            <a:endParaRPr lang="zh-CN" altLang="en-US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763813" y="5818690"/>
            <a:ext cx="664374" cy="572736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5" grpId="0"/>
      <p:bldP spid="15" grpId="1"/>
      <p:bldP spid="14" grpId="0" animBg="1"/>
      <p:bldP spid="14" grpId="1" animBg="1"/>
      <p:bldP spid="14" grpId="2" animBg="1"/>
      <p:bldP spid="24" grpId="0" animBg="1"/>
      <p:bldP spid="24" grpId="1" animBg="1"/>
      <p:bldP spid="24" grpId="2" animBg="1"/>
      <p:bldP spid="26" grpId="0"/>
      <p:bldP spid="26" grpId="1"/>
      <p:bldP spid="26" grpId="2"/>
      <p:bldP spid="16" grpId="0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3"/>
          <p:cNvSpPr>
            <a:spLocks noChangeArrowheads="1"/>
          </p:cNvSpPr>
          <p:nvPr/>
        </p:nvSpPr>
        <p:spPr bwMode="auto">
          <a:xfrm>
            <a:off x="798575" y="234824"/>
            <a:ext cx="3288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Impact" panose="020B0806030902050204" pitchFamily="34" charset="0"/>
              </a:rPr>
              <a:t>选题背景</a:t>
            </a:r>
            <a:endParaRPr lang="zh-CN" altLang="en-US" sz="28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41630" y="1409700"/>
            <a:ext cx="650240" cy="650240"/>
            <a:chOff x="10359" y="7308"/>
            <a:chExt cx="1024" cy="1024"/>
          </a:xfrm>
        </p:grpSpPr>
        <p:sp>
          <p:nvSpPr>
            <p:cNvPr id="43" name="椭圆 42"/>
            <p:cNvSpPr/>
            <p:nvPr>
              <p:custDataLst>
                <p:tags r:id="rId1"/>
              </p:custDataLst>
            </p:nvPr>
          </p:nvSpPr>
          <p:spPr>
            <a:xfrm>
              <a:off x="10359" y="7308"/>
              <a:ext cx="1025" cy="1025"/>
            </a:xfrm>
            <a:prstGeom prst="ellipse">
              <a:avLst/>
            </a:prstGeom>
            <a:solidFill>
              <a:srgbClr val="093B5C"/>
            </a:solidFill>
            <a:ln w="25400">
              <a:solidFill>
                <a:srgbClr val="083451"/>
              </a:solidFill>
            </a:ln>
            <a:effectLst>
              <a:outerShdw blurRad="381000" dist="254000" dir="2700000" algn="tl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grpSp>
          <p:nvGrpSpPr>
            <p:cNvPr id="50" name="组合 49"/>
            <p:cNvGrpSpPr/>
            <p:nvPr>
              <p:custDataLst>
                <p:tags r:id="rId2"/>
              </p:custDataLst>
            </p:nvPr>
          </p:nvGrpSpPr>
          <p:grpSpPr>
            <a:xfrm>
              <a:off x="10510" y="7476"/>
              <a:ext cx="723" cy="689"/>
              <a:chOff x="4150420" y="2637483"/>
              <a:chExt cx="638175" cy="608013"/>
            </a:xfrm>
            <a:solidFill>
              <a:schemeClr val="bg1"/>
            </a:solidFill>
          </p:grpSpPr>
          <p:sp>
            <p:nvSpPr>
              <p:cNvPr id="51" name="Freeform 1726"/>
              <p:cNvSpPr>
                <a:spLocks noEditPoint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4150420" y="2637483"/>
                <a:ext cx="638175" cy="608013"/>
              </a:xfrm>
              <a:custGeom>
                <a:avLst/>
                <a:gdLst>
                  <a:gd name="T0" fmla="*/ 53 w 170"/>
                  <a:gd name="T1" fmla="*/ 9 h 162"/>
                  <a:gd name="T2" fmla="*/ 17 w 170"/>
                  <a:gd name="T3" fmla="*/ 108 h 162"/>
                  <a:gd name="T4" fmla="*/ 116 w 170"/>
                  <a:gd name="T5" fmla="*/ 144 h 162"/>
                  <a:gd name="T6" fmla="*/ 152 w 170"/>
                  <a:gd name="T7" fmla="*/ 45 h 162"/>
                  <a:gd name="T8" fmla="*/ 110 w 170"/>
                  <a:gd name="T9" fmla="*/ 7 h 162"/>
                  <a:gd name="T10" fmla="*/ 53 w 170"/>
                  <a:gd name="T11" fmla="*/ 9 h 162"/>
                  <a:gd name="T12" fmla="*/ 108 w 170"/>
                  <a:gd name="T13" fmla="*/ 14 h 162"/>
                  <a:gd name="T14" fmla="*/ 146 w 170"/>
                  <a:gd name="T15" fmla="*/ 48 h 162"/>
                  <a:gd name="T16" fmla="*/ 113 w 170"/>
                  <a:gd name="T17" fmla="*/ 138 h 162"/>
                  <a:gd name="T18" fmla="*/ 24 w 170"/>
                  <a:gd name="T19" fmla="*/ 105 h 162"/>
                  <a:gd name="T20" fmla="*/ 56 w 170"/>
                  <a:gd name="T21" fmla="*/ 16 h 162"/>
                  <a:gd name="T22" fmla="*/ 108 w 170"/>
                  <a:gd name="T23" fmla="*/ 14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0" h="162">
                    <a:moveTo>
                      <a:pt x="53" y="9"/>
                    </a:moveTo>
                    <a:cubicBezTo>
                      <a:pt x="16" y="26"/>
                      <a:pt x="0" y="71"/>
                      <a:pt x="17" y="108"/>
                    </a:cubicBezTo>
                    <a:cubicBezTo>
                      <a:pt x="34" y="145"/>
                      <a:pt x="79" y="162"/>
                      <a:pt x="116" y="144"/>
                    </a:cubicBezTo>
                    <a:cubicBezTo>
                      <a:pt x="153" y="127"/>
                      <a:pt x="170" y="83"/>
                      <a:pt x="152" y="45"/>
                    </a:cubicBezTo>
                    <a:cubicBezTo>
                      <a:pt x="144" y="27"/>
                      <a:pt x="129" y="14"/>
                      <a:pt x="110" y="7"/>
                    </a:cubicBezTo>
                    <a:cubicBezTo>
                      <a:pt x="92" y="0"/>
                      <a:pt x="71" y="1"/>
                      <a:pt x="53" y="9"/>
                    </a:cubicBezTo>
                    <a:close/>
                    <a:moveTo>
                      <a:pt x="108" y="14"/>
                    </a:moveTo>
                    <a:cubicBezTo>
                      <a:pt x="125" y="20"/>
                      <a:pt x="138" y="32"/>
                      <a:pt x="146" y="48"/>
                    </a:cubicBezTo>
                    <a:cubicBezTo>
                      <a:pt x="161" y="82"/>
                      <a:pt x="147" y="122"/>
                      <a:pt x="113" y="138"/>
                    </a:cubicBezTo>
                    <a:cubicBezTo>
                      <a:pt x="79" y="153"/>
                      <a:pt x="39" y="139"/>
                      <a:pt x="24" y="105"/>
                    </a:cubicBezTo>
                    <a:cubicBezTo>
                      <a:pt x="8" y="71"/>
                      <a:pt x="23" y="31"/>
                      <a:pt x="56" y="16"/>
                    </a:cubicBezTo>
                    <a:cubicBezTo>
                      <a:pt x="73" y="8"/>
                      <a:pt x="91" y="7"/>
                      <a:pt x="10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Freeform 1727"/>
              <p:cNvSpPr>
                <a:spLocks noEditPoint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4361558" y="2816870"/>
                <a:ext cx="214313" cy="214313"/>
              </a:xfrm>
              <a:custGeom>
                <a:avLst/>
                <a:gdLst>
                  <a:gd name="T0" fmla="*/ 6 w 57"/>
                  <a:gd name="T1" fmla="*/ 39 h 57"/>
                  <a:gd name="T2" fmla="*/ 39 w 57"/>
                  <a:gd name="T3" fmla="*/ 52 h 57"/>
                  <a:gd name="T4" fmla="*/ 52 w 57"/>
                  <a:gd name="T5" fmla="*/ 18 h 57"/>
                  <a:gd name="T6" fmla="*/ 18 w 57"/>
                  <a:gd name="T7" fmla="*/ 6 h 57"/>
                  <a:gd name="T8" fmla="*/ 6 w 57"/>
                  <a:gd name="T9" fmla="*/ 39 h 57"/>
                  <a:gd name="T10" fmla="*/ 24 w 57"/>
                  <a:gd name="T11" fmla="*/ 18 h 57"/>
                  <a:gd name="T12" fmla="*/ 39 w 57"/>
                  <a:gd name="T13" fmla="*/ 24 h 57"/>
                  <a:gd name="T14" fmla="*/ 33 w 57"/>
                  <a:gd name="T15" fmla="*/ 39 h 57"/>
                  <a:gd name="T16" fmla="*/ 18 w 57"/>
                  <a:gd name="T17" fmla="*/ 33 h 57"/>
                  <a:gd name="T18" fmla="*/ 24 w 57"/>
                  <a:gd name="T19" fmla="*/ 18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" h="57">
                    <a:moveTo>
                      <a:pt x="6" y="39"/>
                    </a:moveTo>
                    <a:cubicBezTo>
                      <a:pt x="12" y="52"/>
                      <a:pt x="27" y="57"/>
                      <a:pt x="39" y="52"/>
                    </a:cubicBezTo>
                    <a:cubicBezTo>
                      <a:pt x="52" y="46"/>
                      <a:pt x="57" y="31"/>
                      <a:pt x="52" y="18"/>
                    </a:cubicBezTo>
                    <a:cubicBezTo>
                      <a:pt x="46" y="6"/>
                      <a:pt x="31" y="0"/>
                      <a:pt x="18" y="6"/>
                    </a:cubicBezTo>
                    <a:cubicBezTo>
                      <a:pt x="5" y="12"/>
                      <a:pt x="0" y="27"/>
                      <a:pt x="6" y="39"/>
                    </a:cubicBezTo>
                    <a:close/>
                    <a:moveTo>
                      <a:pt x="24" y="18"/>
                    </a:moveTo>
                    <a:cubicBezTo>
                      <a:pt x="30" y="16"/>
                      <a:pt x="36" y="18"/>
                      <a:pt x="39" y="24"/>
                    </a:cubicBezTo>
                    <a:cubicBezTo>
                      <a:pt x="42" y="30"/>
                      <a:pt x="39" y="36"/>
                      <a:pt x="33" y="39"/>
                    </a:cubicBezTo>
                    <a:cubicBezTo>
                      <a:pt x="28" y="42"/>
                      <a:pt x="21" y="39"/>
                      <a:pt x="18" y="33"/>
                    </a:cubicBezTo>
                    <a:cubicBezTo>
                      <a:pt x="16" y="28"/>
                      <a:pt x="18" y="21"/>
                      <a:pt x="24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Freeform 1728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4290120" y="2723208"/>
                <a:ext cx="107950" cy="93663"/>
              </a:xfrm>
              <a:custGeom>
                <a:avLst/>
                <a:gdLst>
                  <a:gd name="T0" fmla="*/ 27 w 29"/>
                  <a:gd name="T1" fmla="*/ 0 h 25"/>
                  <a:gd name="T2" fmla="*/ 24 w 29"/>
                  <a:gd name="T3" fmla="*/ 2 h 25"/>
                  <a:gd name="T4" fmla="*/ 1 w 29"/>
                  <a:gd name="T5" fmla="*/ 21 h 25"/>
                  <a:gd name="T6" fmla="*/ 1 w 29"/>
                  <a:gd name="T7" fmla="*/ 23 h 25"/>
                  <a:gd name="T8" fmla="*/ 2 w 29"/>
                  <a:gd name="T9" fmla="*/ 24 h 25"/>
                  <a:gd name="T10" fmla="*/ 2 w 29"/>
                  <a:gd name="T11" fmla="*/ 25 h 25"/>
                  <a:gd name="T12" fmla="*/ 4 w 29"/>
                  <a:gd name="T13" fmla="*/ 24 h 25"/>
                  <a:gd name="T14" fmla="*/ 26 w 29"/>
                  <a:gd name="T15" fmla="*/ 6 h 25"/>
                  <a:gd name="T16" fmla="*/ 28 w 29"/>
                  <a:gd name="T17" fmla="*/ 5 h 25"/>
                  <a:gd name="T18" fmla="*/ 29 w 29"/>
                  <a:gd name="T19" fmla="*/ 3 h 25"/>
                  <a:gd name="T20" fmla="*/ 29 w 29"/>
                  <a:gd name="T21" fmla="*/ 2 h 25"/>
                  <a:gd name="T22" fmla="*/ 29 w 29"/>
                  <a:gd name="T23" fmla="*/ 1 h 25"/>
                  <a:gd name="T24" fmla="*/ 28 w 29"/>
                  <a:gd name="T25" fmla="*/ 0 h 25"/>
                  <a:gd name="T26" fmla="*/ 27 w 29"/>
                  <a:gd name="T2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25">
                    <a:moveTo>
                      <a:pt x="27" y="0"/>
                    </a:moveTo>
                    <a:cubicBezTo>
                      <a:pt x="27" y="0"/>
                      <a:pt x="24" y="2"/>
                      <a:pt x="24" y="2"/>
                    </a:cubicBezTo>
                    <a:cubicBezTo>
                      <a:pt x="15" y="6"/>
                      <a:pt x="7" y="13"/>
                      <a:pt x="1" y="21"/>
                    </a:cubicBezTo>
                    <a:cubicBezTo>
                      <a:pt x="0" y="22"/>
                      <a:pt x="0" y="22"/>
                      <a:pt x="1" y="23"/>
                    </a:cubicBezTo>
                    <a:cubicBezTo>
                      <a:pt x="1" y="23"/>
                      <a:pt x="1" y="24"/>
                      <a:pt x="2" y="2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3" y="25"/>
                      <a:pt x="4" y="25"/>
                      <a:pt x="4" y="24"/>
                    </a:cubicBezTo>
                    <a:cubicBezTo>
                      <a:pt x="10" y="16"/>
                      <a:pt x="17" y="10"/>
                      <a:pt x="26" y="6"/>
                    </a:cubicBezTo>
                    <a:cubicBezTo>
                      <a:pt x="26" y="6"/>
                      <a:pt x="28" y="5"/>
                      <a:pt x="28" y="5"/>
                    </a:cubicBezTo>
                    <a:cubicBezTo>
                      <a:pt x="29" y="5"/>
                      <a:pt x="29" y="4"/>
                      <a:pt x="29" y="3"/>
                    </a:cubicBezTo>
                    <a:cubicBezTo>
                      <a:pt x="29" y="3"/>
                      <a:pt x="29" y="3"/>
                      <a:pt x="29" y="2"/>
                    </a:cubicBezTo>
                    <a:cubicBezTo>
                      <a:pt x="29" y="1"/>
                      <a:pt x="29" y="1"/>
                      <a:pt x="29" y="1"/>
                    </a:cubicBezTo>
                    <a:cubicBezTo>
                      <a:pt x="29" y="1"/>
                      <a:pt x="28" y="1"/>
                      <a:pt x="28" y="0"/>
                    </a:cubicBezTo>
                    <a:cubicBezTo>
                      <a:pt x="27" y="0"/>
                      <a:pt x="27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Freeform 1729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4537770" y="3031183"/>
                <a:ext cx="107950" cy="93663"/>
              </a:xfrm>
              <a:custGeom>
                <a:avLst/>
                <a:gdLst>
                  <a:gd name="T0" fmla="*/ 25 w 29"/>
                  <a:gd name="T1" fmla="*/ 1 h 25"/>
                  <a:gd name="T2" fmla="*/ 4 w 29"/>
                  <a:gd name="T3" fmla="*/ 20 h 25"/>
                  <a:gd name="T4" fmla="*/ 1 w 29"/>
                  <a:gd name="T5" fmla="*/ 21 h 25"/>
                  <a:gd name="T6" fmla="*/ 0 w 29"/>
                  <a:gd name="T7" fmla="*/ 22 h 25"/>
                  <a:gd name="T8" fmla="*/ 0 w 29"/>
                  <a:gd name="T9" fmla="*/ 23 h 25"/>
                  <a:gd name="T10" fmla="*/ 1 w 29"/>
                  <a:gd name="T11" fmla="*/ 24 h 25"/>
                  <a:gd name="T12" fmla="*/ 2 w 29"/>
                  <a:gd name="T13" fmla="*/ 25 h 25"/>
                  <a:gd name="T14" fmla="*/ 3 w 29"/>
                  <a:gd name="T15" fmla="*/ 25 h 25"/>
                  <a:gd name="T16" fmla="*/ 6 w 29"/>
                  <a:gd name="T17" fmla="*/ 24 h 25"/>
                  <a:gd name="T18" fmla="*/ 29 w 29"/>
                  <a:gd name="T19" fmla="*/ 4 h 25"/>
                  <a:gd name="T20" fmla="*/ 29 w 29"/>
                  <a:gd name="T21" fmla="*/ 3 h 25"/>
                  <a:gd name="T22" fmla="*/ 28 w 29"/>
                  <a:gd name="T23" fmla="*/ 1 h 25"/>
                  <a:gd name="T24" fmla="*/ 27 w 29"/>
                  <a:gd name="T25" fmla="*/ 1 h 25"/>
                  <a:gd name="T26" fmla="*/ 25 w 29"/>
                  <a:gd name="T27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9" h="25">
                    <a:moveTo>
                      <a:pt x="25" y="1"/>
                    </a:moveTo>
                    <a:cubicBezTo>
                      <a:pt x="19" y="9"/>
                      <a:pt x="12" y="16"/>
                      <a:pt x="4" y="20"/>
                    </a:cubicBezTo>
                    <a:cubicBezTo>
                      <a:pt x="4" y="20"/>
                      <a:pt x="1" y="21"/>
                      <a:pt x="1" y="21"/>
                    </a:cubicBezTo>
                    <a:cubicBezTo>
                      <a:pt x="1" y="21"/>
                      <a:pt x="0" y="22"/>
                      <a:pt x="0" y="22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1" y="24"/>
                      <a:pt x="1" y="25"/>
                      <a:pt x="2" y="25"/>
                    </a:cubicBezTo>
                    <a:cubicBezTo>
                      <a:pt x="2" y="25"/>
                      <a:pt x="2" y="25"/>
                      <a:pt x="3" y="25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15" y="20"/>
                      <a:pt x="23" y="13"/>
                      <a:pt x="29" y="4"/>
                    </a:cubicBezTo>
                    <a:cubicBezTo>
                      <a:pt x="29" y="4"/>
                      <a:pt x="29" y="3"/>
                      <a:pt x="29" y="3"/>
                    </a:cubicBezTo>
                    <a:cubicBezTo>
                      <a:pt x="29" y="2"/>
                      <a:pt x="28" y="2"/>
                      <a:pt x="28" y="1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0"/>
                      <a:pt x="25" y="1"/>
                      <a:pt x="2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5" name="Freeform 1730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526658" y="3016895"/>
                <a:ext cx="90488" cy="74613"/>
              </a:xfrm>
              <a:custGeom>
                <a:avLst/>
                <a:gdLst>
                  <a:gd name="T0" fmla="*/ 20 w 24"/>
                  <a:gd name="T1" fmla="*/ 0 h 20"/>
                  <a:gd name="T2" fmla="*/ 3 w 24"/>
                  <a:gd name="T3" fmla="*/ 15 h 20"/>
                  <a:gd name="T4" fmla="*/ 4 w 24"/>
                  <a:gd name="T5" fmla="*/ 15 h 20"/>
                  <a:gd name="T6" fmla="*/ 1 w 24"/>
                  <a:gd name="T7" fmla="*/ 16 h 20"/>
                  <a:gd name="T8" fmla="*/ 0 w 24"/>
                  <a:gd name="T9" fmla="*/ 17 h 20"/>
                  <a:gd name="T10" fmla="*/ 0 w 24"/>
                  <a:gd name="T11" fmla="*/ 18 h 20"/>
                  <a:gd name="T12" fmla="*/ 0 w 24"/>
                  <a:gd name="T13" fmla="*/ 19 h 20"/>
                  <a:gd name="T14" fmla="*/ 1 w 24"/>
                  <a:gd name="T15" fmla="*/ 20 h 20"/>
                  <a:gd name="T16" fmla="*/ 3 w 24"/>
                  <a:gd name="T17" fmla="*/ 20 h 20"/>
                  <a:gd name="T18" fmla="*/ 5 w 24"/>
                  <a:gd name="T19" fmla="*/ 19 h 20"/>
                  <a:gd name="T20" fmla="*/ 24 w 24"/>
                  <a:gd name="T21" fmla="*/ 3 h 20"/>
                  <a:gd name="T22" fmla="*/ 24 w 24"/>
                  <a:gd name="T23" fmla="*/ 2 h 20"/>
                  <a:gd name="T24" fmla="*/ 24 w 24"/>
                  <a:gd name="T25" fmla="*/ 1 h 20"/>
                  <a:gd name="T26" fmla="*/ 23 w 24"/>
                  <a:gd name="T27" fmla="*/ 0 h 20"/>
                  <a:gd name="T28" fmla="*/ 20 w 24"/>
                  <a:gd name="T2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4" h="20">
                    <a:moveTo>
                      <a:pt x="20" y="0"/>
                    </a:moveTo>
                    <a:cubicBezTo>
                      <a:pt x="16" y="7"/>
                      <a:pt x="10" y="12"/>
                      <a:pt x="3" y="15"/>
                    </a:cubicBezTo>
                    <a:cubicBezTo>
                      <a:pt x="3" y="15"/>
                      <a:pt x="4" y="15"/>
                      <a:pt x="4" y="15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16"/>
                      <a:pt x="0" y="16"/>
                      <a:pt x="0" y="17"/>
                    </a:cubicBezTo>
                    <a:cubicBezTo>
                      <a:pt x="0" y="17"/>
                      <a:pt x="0" y="18"/>
                      <a:pt x="0" y="18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2" y="20"/>
                      <a:pt x="2" y="20"/>
                      <a:pt x="3" y="20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12" y="16"/>
                      <a:pt x="19" y="10"/>
                      <a:pt x="24" y="3"/>
                    </a:cubicBezTo>
                    <a:cubicBezTo>
                      <a:pt x="24" y="3"/>
                      <a:pt x="24" y="2"/>
                      <a:pt x="24" y="2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0"/>
                      <a:pt x="21" y="0"/>
                      <a:pt x="2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6" name="Freeform 1731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4320283" y="2756545"/>
                <a:ext cx="90488" cy="79375"/>
              </a:xfrm>
              <a:custGeom>
                <a:avLst/>
                <a:gdLst>
                  <a:gd name="T0" fmla="*/ 22 w 24"/>
                  <a:gd name="T1" fmla="*/ 0 h 21"/>
                  <a:gd name="T2" fmla="*/ 20 w 24"/>
                  <a:gd name="T3" fmla="*/ 1 h 21"/>
                  <a:gd name="T4" fmla="*/ 19 w 24"/>
                  <a:gd name="T5" fmla="*/ 1 h 21"/>
                  <a:gd name="T6" fmla="*/ 19 w 24"/>
                  <a:gd name="T7" fmla="*/ 1 h 21"/>
                  <a:gd name="T8" fmla="*/ 0 w 24"/>
                  <a:gd name="T9" fmla="*/ 17 h 21"/>
                  <a:gd name="T10" fmla="*/ 0 w 24"/>
                  <a:gd name="T11" fmla="*/ 19 h 21"/>
                  <a:gd name="T12" fmla="*/ 1 w 24"/>
                  <a:gd name="T13" fmla="*/ 20 h 21"/>
                  <a:gd name="T14" fmla="*/ 2 w 24"/>
                  <a:gd name="T15" fmla="*/ 20 h 21"/>
                  <a:gd name="T16" fmla="*/ 4 w 24"/>
                  <a:gd name="T17" fmla="*/ 20 h 21"/>
                  <a:gd name="T18" fmla="*/ 21 w 24"/>
                  <a:gd name="T19" fmla="*/ 5 h 21"/>
                  <a:gd name="T20" fmla="*/ 23 w 24"/>
                  <a:gd name="T21" fmla="*/ 5 h 21"/>
                  <a:gd name="T22" fmla="*/ 24 w 24"/>
                  <a:gd name="T23" fmla="*/ 3 h 21"/>
                  <a:gd name="T24" fmla="*/ 24 w 24"/>
                  <a:gd name="T25" fmla="*/ 2 h 21"/>
                  <a:gd name="T26" fmla="*/ 24 w 24"/>
                  <a:gd name="T27" fmla="*/ 1 h 21"/>
                  <a:gd name="T28" fmla="*/ 23 w 24"/>
                  <a:gd name="T29" fmla="*/ 0 h 21"/>
                  <a:gd name="T30" fmla="*/ 22 w 24"/>
                  <a:gd name="T3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4" h="21">
                    <a:moveTo>
                      <a:pt x="22" y="0"/>
                    </a:moveTo>
                    <a:cubicBezTo>
                      <a:pt x="20" y="1"/>
                      <a:pt x="20" y="1"/>
                      <a:pt x="20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2" y="5"/>
                      <a:pt x="5" y="10"/>
                      <a:pt x="0" y="17"/>
                    </a:cubicBezTo>
                    <a:cubicBezTo>
                      <a:pt x="0" y="18"/>
                      <a:pt x="0" y="18"/>
                      <a:pt x="0" y="19"/>
                    </a:cubicBezTo>
                    <a:cubicBezTo>
                      <a:pt x="0" y="19"/>
                      <a:pt x="1" y="20"/>
                      <a:pt x="1" y="20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2" y="21"/>
                      <a:pt x="4" y="21"/>
                      <a:pt x="4" y="20"/>
                    </a:cubicBezTo>
                    <a:cubicBezTo>
                      <a:pt x="9" y="14"/>
                      <a:pt x="15" y="8"/>
                      <a:pt x="21" y="5"/>
                    </a:cubicBezTo>
                    <a:cubicBezTo>
                      <a:pt x="21" y="5"/>
                      <a:pt x="23" y="5"/>
                      <a:pt x="23" y="5"/>
                    </a:cubicBezTo>
                    <a:cubicBezTo>
                      <a:pt x="24" y="4"/>
                      <a:pt x="24" y="3"/>
                      <a:pt x="24" y="3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1"/>
                      <a:pt x="24" y="1"/>
                      <a:pt x="24" y="1"/>
                    </a:cubicBezTo>
                    <a:cubicBezTo>
                      <a:pt x="24" y="1"/>
                      <a:pt x="23" y="0"/>
                      <a:pt x="23" y="0"/>
                    </a:cubicBezTo>
                    <a:cubicBezTo>
                      <a:pt x="23" y="0"/>
                      <a:pt x="22" y="0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7" name="Freeform 1732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4515545" y="2997845"/>
                <a:ext cx="74613" cy="63500"/>
              </a:xfrm>
              <a:custGeom>
                <a:avLst/>
                <a:gdLst>
                  <a:gd name="T0" fmla="*/ 15 w 20"/>
                  <a:gd name="T1" fmla="*/ 0 h 17"/>
                  <a:gd name="T2" fmla="*/ 2 w 20"/>
                  <a:gd name="T3" fmla="*/ 12 h 17"/>
                  <a:gd name="T4" fmla="*/ 1 w 20"/>
                  <a:gd name="T5" fmla="*/ 12 h 17"/>
                  <a:gd name="T6" fmla="*/ 0 w 20"/>
                  <a:gd name="T7" fmla="*/ 14 h 17"/>
                  <a:gd name="T8" fmla="*/ 0 w 20"/>
                  <a:gd name="T9" fmla="*/ 15 h 17"/>
                  <a:gd name="T10" fmla="*/ 1 w 20"/>
                  <a:gd name="T11" fmla="*/ 16 h 17"/>
                  <a:gd name="T12" fmla="*/ 3 w 20"/>
                  <a:gd name="T13" fmla="*/ 17 h 17"/>
                  <a:gd name="T14" fmla="*/ 4 w 20"/>
                  <a:gd name="T15" fmla="*/ 16 h 17"/>
                  <a:gd name="T16" fmla="*/ 19 w 20"/>
                  <a:gd name="T17" fmla="*/ 3 h 17"/>
                  <a:gd name="T18" fmla="*/ 19 w 20"/>
                  <a:gd name="T19" fmla="*/ 2 h 17"/>
                  <a:gd name="T20" fmla="*/ 19 w 20"/>
                  <a:gd name="T21" fmla="*/ 1 h 17"/>
                  <a:gd name="T22" fmla="*/ 18 w 20"/>
                  <a:gd name="T23" fmla="*/ 0 h 17"/>
                  <a:gd name="T24" fmla="*/ 15 w 20"/>
                  <a:gd name="T25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" h="17">
                    <a:moveTo>
                      <a:pt x="15" y="0"/>
                    </a:moveTo>
                    <a:cubicBezTo>
                      <a:pt x="12" y="5"/>
                      <a:pt x="7" y="9"/>
                      <a:pt x="2" y="12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3"/>
                      <a:pt x="0" y="13"/>
                      <a:pt x="0" y="1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6"/>
                      <a:pt x="1" y="16"/>
                      <a:pt x="1" y="16"/>
                    </a:cubicBezTo>
                    <a:cubicBezTo>
                      <a:pt x="2" y="17"/>
                      <a:pt x="2" y="17"/>
                      <a:pt x="3" y="17"/>
                    </a:cubicBezTo>
                    <a:cubicBezTo>
                      <a:pt x="4" y="16"/>
                      <a:pt x="4" y="16"/>
                      <a:pt x="4" y="16"/>
                    </a:cubicBezTo>
                    <a:cubicBezTo>
                      <a:pt x="10" y="13"/>
                      <a:pt x="15" y="9"/>
                      <a:pt x="19" y="3"/>
                    </a:cubicBezTo>
                    <a:cubicBezTo>
                      <a:pt x="19" y="3"/>
                      <a:pt x="20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0"/>
                      <a:pt x="16" y="0"/>
                      <a:pt x="1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Freeform 1733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4350445" y="2791470"/>
                <a:ext cx="71438" cy="63500"/>
              </a:xfrm>
              <a:custGeom>
                <a:avLst/>
                <a:gdLst>
                  <a:gd name="T0" fmla="*/ 17 w 19"/>
                  <a:gd name="T1" fmla="*/ 0 h 17"/>
                  <a:gd name="T2" fmla="*/ 15 w 19"/>
                  <a:gd name="T3" fmla="*/ 1 h 17"/>
                  <a:gd name="T4" fmla="*/ 0 w 19"/>
                  <a:gd name="T5" fmla="*/ 13 h 17"/>
                  <a:gd name="T6" fmla="*/ 0 w 19"/>
                  <a:gd name="T7" fmla="*/ 15 h 17"/>
                  <a:gd name="T8" fmla="*/ 1 w 19"/>
                  <a:gd name="T9" fmla="*/ 16 h 17"/>
                  <a:gd name="T10" fmla="*/ 2 w 19"/>
                  <a:gd name="T11" fmla="*/ 16 h 17"/>
                  <a:gd name="T12" fmla="*/ 4 w 19"/>
                  <a:gd name="T13" fmla="*/ 16 h 17"/>
                  <a:gd name="T14" fmla="*/ 17 w 19"/>
                  <a:gd name="T15" fmla="*/ 5 h 17"/>
                  <a:gd name="T16" fmla="*/ 19 w 19"/>
                  <a:gd name="T17" fmla="*/ 4 h 17"/>
                  <a:gd name="T18" fmla="*/ 19 w 19"/>
                  <a:gd name="T19" fmla="*/ 2 h 17"/>
                  <a:gd name="T20" fmla="*/ 19 w 19"/>
                  <a:gd name="T21" fmla="*/ 2 h 17"/>
                  <a:gd name="T22" fmla="*/ 19 w 19"/>
                  <a:gd name="T23" fmla="*/ 1 h 17"/>
                  <a:gd name="T24" fmla="*/ 18 w 19"/>
                  <a:gd name="T25" fmla="*/ 0 h 17"/>
                  <a:gd name="T26" fmla="*/ 17 w 19"/>
                  <a:gd name="T2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" h="17">
                    <a:moveTo>
                      <a:pt x="17" y="0"/>
                    </a:moveTo>
                    <a:cubicBezTo>
                      <a:pt x="17" y="0"/>
                      <a:pt x="15" y="0"/>
                      <a:pt x="15" y="1"/>
                    </a:cubicBezTo>
                    <a:cubicBezTo>
                      <a:pt x="10" y="3"/>
                      <a:pt x="4" y="8"/>
                      <a:pt x="0" y="13"/>
                    </a:cubicBezTo>
                    <a:cubicBezTo>
                      <a:pt x="0" y="14"/>
                      <a:pt x="0" y="14"/>
                      <a:pt x="0" y="15"/>
                    </a:cubicBezTo>
                    <a:cubicBezTo>
                      <a:pt x="0" y="15"/>
                      <a:pt x="0" y="16"/>
                      <a:pt x="1" y="16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2" y="17"/>
                      <a:pt x="4" y="17"/>
                      <a:pt x="4" y="16"/>
                    </a:cubicBezTo>
                    <a:cubicBezTo>
                      <a:pt x="8" y="11"/>
                      <a:pt x="12" y="7"/>
                      <a:pt x="17" y="5"/>
                    </a:cubicBezTo>
                    <a:cubicBezTo>
                      <a:pt x="17" y="5"/>
                      <a:pt x="19" y="4"/>
                      <a:pt x="19" y="4"/>
                    </a:cubicBezTo>
                    <a:cubicBezTo>
                      <a:pt x="19" y="4"/>
                      <a:pt x="19" y="3"/>
                      <a:pt x="19" y="2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0"/>
                      <a:pt x="19" y="0"/>
                      <a:pt x="18" y="0"/>
                    </a:cubicBezTo>
                    <a:cubicBezTo>
                      <a:pt x="18" y="0"/>
                      <a:pt x="17" y="0"/>
                      <a:pt x="1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69" name="矩形 68"/>
          <p:cNvSpPr/>
          <p:nvPr>
            <p:custDataLst>
              <p:tags r:id="rId11"/>
            </p:custDataLst>
          </p:nvPr>
        </p:nvSpPr>
        <p:spPr>
          <a:xfrm>
            <a:off x="1249591" y="1423603"/>
            <a:ext cx="3955338" cy="2353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互联网技术的发展，在线学习日益普及。微信群作为一种普及度极高的社交平台，为学习者提供了便捷的交流和协作环境。但在程序设计算法学习中，初学者往往面临诸多难题，传统答疑方式受限。因此，开发基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的面向编程的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答疑系统，对提高学习效率和降低学习门槛具有重要意义。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等腰三角形 38"/>
          <p:cNvSpPr/>
          <p:nvPr/>
        </p:nvSpPr>
        <p:spPr>
          <a:xfrm rot="5400000">
            <a:off x="310761" y="325508"/>
            <a:ext cx="396547" cy="341851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5095" y="981710"/>
            <a:ext cx="6612890" cy="5107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69" grpId="0"/>
      <p:bldP spid="39" grpId="0" bldLvl="0" animBg="1"/>
      <p:bldP spid="39" grpId="1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1625600" y="3429000"/>
            <a:ext cx="8941435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zh-CN" altLang="en-US" sz="44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研究的基本内容</a:t>
            </a:r>
            <a:endParaRPr lang="zh-CN" altLang="en-US" sz="4400" b="1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5"/>
          <p:cNvSpPr/>
          <p:nvPr/>
        </p:nvSpPr>
        <p:spPr bwMode="auto">
          <a:xfrm>
            <a:off x="4454430" y="-1323744"/>
            <a:ext cx="3283140" cy="3727743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Freeform 5"/>
          <p:cNvSpPr/>
          <p:nvPr/>
        </p:nvSpPr>
        <p:spPr bwMode="auto">
          <a:xfrm>
            <a:off x="4065249" y="-1765627"/>
            <a:ext cx="4061502" cy="4611510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12"/>
          <p:cNvSpPr txBox="1">
            <a:spLocks noChangeArrowheads="1"/>
          </p:cNvSpPr>
          <p:nvPr/>
        </p:nvSpPr>
        <p:spPr bwMode="auto">
          <a:xfrm>
            <a:off x="5424469" y="18024"/>
            <a:ext cx="1343062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12000" b="1" dirty="0">
                <a:solidFill>
                  <a:schemeClr val="bg1"/>
                </a:solidFill>
                <a:latin typeface="AgencyFB" panose="02000806040000020003" pitchFamily="2" charset="0"/>
                <a:ea typeface="微软雅黑" panose="020B0503020204020204" pitchFamily="34" charset="-122"/>
              </a:rPr>
              <a:t>2</a:t>
            </a:r>
            <a:endParaRPr lang="en-US" altLang="zh-CN" sz="12000" b="1" dirty="0">
              <a:solidFill>
                <a:schemeClr val="bg1"/>
              </a:solidFill>
              <a:latin typeface="AgencyFB" panose="02000806040000020003" pitchFamily="2" charset="0"/>
              <a:ea typeface="微软雅黑" panose="020B0503020204020204" pitchFamily="34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5176768" y="1629977"/>
            <a:ext cx="183846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 eaLnBrk="1" hangingPunct="1"/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TWO</a:t>
            </a:r>
            <a:endParaRPr lang="en-US" altLang="zh-CN" sz="1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763813" y="5818690"/>
            <a:ext cx="664374" cy="572736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5" grpId="0"/>
      <p:bldP spid="15" grpId="1"/>
      <p:bldP spid="14" grpId="0" animBg="1"/>
      <p:bldP spid="14" grpId="1" animBg="1"/>
      <p:bldP spid="14" grpId="2" animBg="1"/>
      <p:bldP spid="24" grpId="0" animBg="1"/>
      <p:bldP spid="24" grpId="1" animBg="1"/>
      <p:bldP spid="24" grpId="2" animBg="1"/>
      <p:bldP spid="26" grpId="0"/>
      <p:bldP spid="26" grpId="1"/>
      <p:bldP spid="26" grpId="2"/>
      <p:bldP spid="16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椭圆 37"/>
          <p:cNvSpPr/>
          <p:nvPr>
            <p:custDataLst>
              <p:tags r:id="rId1"/>
            </p:custDataLst>
          </p:nvPr>
        </p:nvSpPr>
        <p:spPr>
          <a:xfrm>
            <a:off x="3753485" y="1274445"/>
            <a:ext cx="1619885" cy="1619885"/>
          </a:xfrm>
          <a:prstGeom prst="ellipse">
            <a:avLst/>
          </a:pr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39" name="椭圆 38"/>
          <p:cNvSpPr/>
          <p:nvPr>
            <p:custDataLst>
              <p:tags r:id="rId2"/>
            </p:custDataLst>
          </p:nvPr>
        </p:nvSpPr>
        <p:spPr>
          <a:xfrm>
            <a:off x="1652270" y="3568065"/>
            <a:ext cx="1619885" cy="1619885"/>
          </a:xfrm>
          <a:prstGeom prst="ellipse">
            <a:avLst/>
          </a:pr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0" name="椭圆 39"/>
          <p:cNvSpPr/>
          <p:nvPr>
            <p:custDataLst>
              <p:tags r:id="rId3"/>
            </p:custDataLst>
          </p:nvPr>
        </p:nvSpPr>
        <p:spPr>
          <a:xfrm>
            <a:off x="8519160" y="1274445"/>
            <a:ext cx="1619885" cy="1619885"/>
          </a:xfrm>
          <a:prstGeom prst="ellipse">
            <a:avLst/>
          </a:pr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1" name="椭圆 40"/>
          <p:cNvSpPr/>
          <p:nvPr>
            <p:custDataLst>
              <p:tags r:id="rId4"/>
            </p:custDataLst>
          </p:nvPr>
        </p:nvSpPr>
        <p:spPr>
          <a:xfrm>
            <a:off x="5997575" y="3458210"/>
            <a:ext cx="1619885" cy="1619885"/>
          </a:xfrm>
          <a:prstGeom prst="ellipse">
            <a:avLst/>
          </a:pr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3" name="椭圆 42"/>
          <p:cNvSpPr/>
          <p:nvPr>
            <p:custDataLst>
              <p:tags r:id="rId5"/>
            </p:custDataLst>
          </p:nvPr>
        </p:nvSpPr>
        <p:spPr>
          <a:xfrm>
            <a:off x="1363980" y="4612005"/>
            <a:ext cx="575945" cy="575945"/>
          </a:xfrm>
          <a:prstGeom prst="ellipse">
            <a:avLst/>
          </a:prstGeom>
          <a:solidFill>
            <a:srgbClr val="093B5C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/>
          <p:nvPr>
            <p:custDataLst>
              <p:tags r:id="rId6"/>
            </p:custDataLst>
          </p:nvPr>
        </p:nvSpPr>
        <p:spPr>
          <a:xfrm>
            <a:off x="5709285" y="4502150"/>
            <a:ext cx="575945" cy="575945"/>
          </a:xfrm>
          <a:prstGeom prst="ellipse">
            <a:avLst/>
          </a:prstGeom>
          <a:solidFill>
            <a:srgbClr val="093B5C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椭圆 45"/>
          <p:cNvSpPr/>
          <p:nvPr>
            <p:custDataLst>
              <p:tags r:id="rId7"/>
            </p:custDataLst>
          </p:nvPr>
        </p:nvSpPr>
        <p:spPr>
          <a:xfrm>
            <a:off x="4949190" y="1240155"/>
            <a:ext cx="575945" cy="575945"/>
          </a:xfrm>
          <a:prstGeom prst="ellipse">
            <a:avLst/>
          </a:prstGeom>
          <a:solidFill>
            <a:srgbClr val="093B5C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>
            <p:custDataLst>
              <p:tags r:id="rId8"/>
            </p:custDataLst>
          </p:nvPr>
        </p:nvSpPr>
        <p:spPr>
          <a:xfrm>
            <a:off x="8375015" y="1095375"/>
            <a:ext cx="575945" cy="575945"/>
          </a:xfrm>
          <a:prstGeom prst="ellipse">
            <a:avLst/>
          </a:prstGeom>
          <a:solidFill>
            <a:srgbClr val="093B5C"/>
          </a:solidFill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9"/>
            </p:custDataLst>
          </p:nvPr>
        </p:nvGrpSpPr>
        <p:grpSpPr>
          <a:xfrm rot="0">
            <a:off x="2809240" y="2638425"/>
            <a:ext cx="1207135" cy="1060450"/>
            <a:chOff x="2387285" y="3358613"/>
            <a:chExt cx="1206808" cy="1060190"/>
          </a:xfrm>
        </p:grpSpPr>
        <p:cxnSp>
          <p:nvCxnSpPr>
            <p:cNvPr id="34" name="直接连接符 33"/>
            <p:cNvCxnSpPr>
              <a:stCxn id="39" idx="7"/>
              <a:endCxn id="48" idx="3"/>
            </p:cNvCxnSpPr>
            <p:nvPr>
              <p:custDataLst>
                <p:tags r:id="rId10"/>
              </p:custDataLst>
            </p:nvPr>
          </p:nvCxnSpPr>
          <p:spPr>
            <a:xfrm flipV="1">
              <a:off x="2387285" y="3507801"/>
              <a:ext cx="1051275" cy="911002"/>
            </a:xfrm>
            <a:prstGeom prst="line">
              <a:avLst/>
            </a:prstGeom>
            <a:noFill/>
            <a:ln w="28575" cap="rnd" cmpd="sng" algn="ctr">
              <a:solidFill>
                <a:srgbClr val="093B5C"/>
              </a:solidFill>
              <a:prstDash val="sysDot"/>
            </a:ln>
            <a:effectLst/>
          </p:spPr>
        </p:cxnSp>
        <p:sp>
          <p:nvSpPr>
            <p:cNvPr id="48" name="椭圆 47"/>
            <p:cNvSpPr/>
            <p:nvPr>
              <p:custDataLst>
                <p:tags r:id="rId11"/>
              </p:custDataLst>
            </p:nvPr>
          </p:nvSpPr>
          <p:spPr>
            <a:xfrm>
              <a:off x="3411981" y="3358613"/>
              <a:ext cx="182112" cy="174716"/>
            </a:xfrm>
            <a:prstGeom prst="ellipse">
              <a:avLst/>
            </a:prstGeom>
            <a:solidFill>
              <a:srgbClr val="093B5C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12"/>
            </p:custDataLst>
          </p:nvPr>
        </p:nvGrpSpPr>
        <p:grpSpPr>
          <a:xfrm rot="0">
            <a:off x="5135880" y="2656840"/>
            <a:ext cx="1201420" cy="911860"/>
            <a:chOff x="4487869" y="3270206"/>
            <a:chExt cx="1201724" cy="911550"/>
          </a:xfrm>
        </p:grpSpPr>
        <p:cxnSp>
          <p:nvCxnSpPr>
            <p:cNvPr id="35" name="直接连接符 34"/>
            <p:cNvCxnSpPr>
              <a:stCxn id="38" idx="5"/>
              <a:endCxn id="49" idx="1"/>
            </p:cNvCxnSpPr>
            <p:nvPr>
              <p:custDataLst>
                <p:tags r:id="rId13"/>
              </p:custDataLst>
            </p:nvPr>
          </p:nvCxnSpPr>
          <p:spPr>
            <a:xfrm>
              <a:off x="4487869" y="3270206"/>
              <a:ext cx="1046110" cy="762376"/>
            </a:xfrm>
            <a:prstGeom prst="line">
              <a:avLst/>
            </a:prstGeom>
            <a:noFill/>
            <a:ln w="28575" cap="rnd" cmpd="sng" algn="ctr">
              <a:solidFill>
                <a:srgbClr val="093B5C"/>
              </a:solidFill>
              <a:prstDash val="sysDot"/>
            </a:ln>
            <a:effectLst/>
          </p:spPr>
        </p:cxnSp>
        <p:sp>
          <p:nvSpPr>
            <p:cNvPr id="49" name="椭圆 48"/>
            <p:cNvSpPr/>
            <p:nvPr>
              <p:custDataLst>
                <p:tags r:id="rId14"/>
              </p:custDataLst>
            </p:nvPr>
          </p:nvSpPr>
          <p:spPr>
            <a:xfrm>
              <a:off x="5507481" y="4007040"/>
              <a:ext cx="182112" cy="174716"/>
            </a:xfrm>
            <a:prstGeom prst="ellipse">
              <a:avLst/>
            </a:prstGeom>
            <a:solidFill>
              <a:srgbClr val="093B5C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15"/>
            </p:custDataLst>
          </p:nvPr>
        </p:nvGrpSpPr>
        <p:grpSpPr>
          <a:xfrm rot="0">
            <a:off x="7526020" y="2519680"/>
            <a:ext cx="1096010" cy="1071245"/>
            <a:chOff x="6732625" y="3358613"/>
            <a:chExt cx="927192" cy="938300"/>
          </a:xfrm>
        </p:grpSpPr>
        <p:cxnSp>
          <p:nvCxnSpPr>
            <p:cNvPr id="36" name="直接连接符 35"/>
            <p:cNvCxnSpPr>
              <a:stCxn id="41" idx="7"/>
              <a:endCxn id="50" idx="3"/>
            </p:cNvCxnSpPr>
            <p:nvPr>
              <p:custDataLst>
                <p:tags r:id="rId16"/>
              </p:custDataLst>
            </p:nvPr>
          </p:nvCxnSpPr>
          <p:spPr>
            <a:xfrm flipV="1">
              <a:off x="6732625" y="3507742"/>
              <a:ext cx="771750" cy="789171"/>
            </a:xfrm>
            <a:prstGeom prst="line">
              <a:avLst/>
            </a:prstGeom>
            <a:noFill/>
            <a:ln w="28575" cap="rnd" cmpd="sng" algn="ctr">
              <a:solidFill>
                <a:srgbClr val="093B5C"/>
              </a:solidFill>
              <a:prstDash val="sysDot"/>
            </a:ln>
            <a:effectLst/>
          </p:spPr>
        </p:cxnSp>
        <p:sp>
          <p:nvSpPr>
            <p:cNvPr id="50" name="椭圆 49"/>
            <p:cNvSpPr/>
            <p:nvPr>
              <p:custDataLst>
                <p:tags r:id="rId17"/>
              </p:custDataLst>
            </p:nvPr>
          </p:nvSpPr>
          <p:spPr>
            <a:xfrm>
              <a:off x="7477705" y="3358613"/>
              <a:ext cx="182112" cy="174716"/>
            </a:xfrm>
            <a:prstGeom prst="ellipse">
              <a:avLst/>
            </a:prstGeom>
            <a:solidFill>
              <a:srgbClr val="093B5C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sp>
        <p:nvSpPr>
          <p:cNvPr id="29" name="文本框 28"/>
          <p:cNvSpPr txBox="1"/>
          <p:nvPr>
            <p:custDataLst>
              <p:tags r:id="rId18"/>
            </p:custDataLst>
          </p:nvPr>
        </p:nvSpPr>
        <p:spPr>
          <a:xfrm>
            <a:off x="1652270" y="3959860"/>
            <a:ext cx="16198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数据资产与知识图谱构建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9"/>
            </p:custDataLst>
          </p:nvPr>
        </p:nvSpPr>
        <p:spPr>
          <a:xfrm>
            <a:off x="5997575" y="3874770"/>
            <a:ext cx="161988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多层次学习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资源推荐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0"/>
            </p:custDataLst>
          </p:nvPr>
        </p:nvSpPr>
        <p:spPr>
          <a:xfrm>
            <a:off x="3753485" y="1614805"/>
            <a:ext cx="16198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问题理解与答案生成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1"/>
            </p:custDataLst>
          </p:nvPr>
        </p:nvSpPr>
        <p:spPr>
          <a:xfrm>
            <a:off x="8519160" y="1704975"/>
            <a:ext cx="161988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系统集成与验证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/>
          <p:cNvSpPr/>
          <p:nvPr>
            <p:custDataLst>
              <p:tags r:id="rId22"/>
            </p:custDataLst>
          </p:nvPr>
        </p:nvSpPr>
        <p:spPr>
          <a:xfrm>
            <a:off x="5580380" y="1034415"/>
            <a:ext cx="279336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基于知识图谱推理、协同过滤和用户画像推荐资源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动态呈现前置知识、练习题、进阶资料，形成个性化学习路径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记录反馈数据，持续优化推荐策略并量化学习效果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>
            <p:custDataLst>
              <p:tags r:id="rId23"/>
            </p:custDataLst>
          </p:nvPr>
        </p:nvSpPr>
        <p:spPr>
          <a:xfrm>
            <a:off x="579120" y="1704975"/>
            <a:ext cx="2858135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OJ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题目、算法知识点、学习资源，统一清洗与标注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建模算法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资源等实体关系，沉淀程序设计算法知识图谱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按科研比例划分训练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测试集，为模型训练提供可靠数据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>
            <p:custDataLst>
              <p:tags r:id="rId24"/>
            </p:custDataLst>
          </p:nvPr>
        </p:nvSpPr>
        <p:spPr>
          <a:xfrm>
            <a:off x="3348355" y="3394710"/>
            <a:ext cx="2360930" cy="20300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 fontAlgn="auto" latinLnBrk="1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引入经二次训练的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OJ 大模型，进行问题预处理、语义解析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 latinLnBrk="1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结合知识图谱检索的上下文，采用检索增强生成（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RAG）输出答案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 latinLnBrk="1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提供代码示例、复杂度说明与错误定位建议，确保答案可用性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>
            <p:custDataLst>
              <p:tags r:id="rId25"/>
            </p:custDataLst>
          </p:nvPr>
        </p:nvSpPr>
        <p:spPr>
          <a:xfrm>
            <a:off x="8072755" y="3140075"/>
            <a:ext cx="2846070" cy="1753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Vue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Boot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的前后端分离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Web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支持实时消息推送、用户管理、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AI/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人工答疑切换与实验验证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监控响应时间、满意度、准确率等指标，完成系统测试与迭代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3"/>
          <p:cNvSpPr>
            <a:spLocks noChangeArrowheads="1"/>
          </p:cNvSpPr>
          <p:nvPr/>
        </p:nvSpPr>
        <p:spPr bwMode="auto">
          <a:xfrm>
            <a:off x="798575" y="234824"/>
            <a:ext cx="3723998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Impact" panose="020B0806030902050204" pitchFamily="34" charset="0"/>
              </a:rPr>
              <a:t>研究内容</a:t>
            </a:r>
            <a:endParaRPr lang="zh-CN" altLang="en-US" sz="28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Impact" panose="020B0806030902050204" pitchFamily="34" charset="0"/>
            </a:endParaRPr>
          </a:p>
        </p:txBody>
      </p:sp>
      <p:sp>
        <p:nvSpPr>
          <p:cNvPr id="80" name="等腰三角形 79"/>
          <p:cNvSpPr/>
          <p:nvPr/>
        </p:nvSpPr>
        <p:spPr>
          <a:xfrm rot="5400000">
            <a:off x="310761" y="325508"/>
            <a:ext cx="396547" cy="341851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79" grpId="0"/>
      <p:bldP spid="79" grpId="1"/>
      <p:bldP spid="80" grpId="0" animBg="1"/>
      <p:bldP spid="8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1875155" y="3401695"/>
            <a:ext cx="844105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zh-CN" altLang="en-US" sz="4800" kern="100" dirty="0">
                <a:cs typeface="Times New Roman" panose="02020603050405020304" pitchFamily="18" charset="0"/>
                <a:sym typeface="+mn-ea"/>
              </a:rPr>
              <a:t>总体开发思路</a:t>
            </a:r>
            <a:endParaRPr lang="zh-CN" altLang="en-US" sz="4800" kern="100" dirty="0"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Freeform 5"/>
          <p:cNvSpPr/>
          <p:nvPr/>
        </p:nvSpPr>
        <p:spPr bwMode="auto">
          <a:xfrm>
            <a:off x="4454430" y="-1323744"/>
            <a:ext cx="3283140" cy="3727743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Freeform 5"/>
          <p:cNvSpPr/>
          <p:nvPr/>
        </p:nvSpPr>
        <p:spPr bwMode="auto">
          <a:xfrm>
            <a:off x="4065249" y="-1765627"/>
            <a:ext cx="4061502" cy="4611510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12"/>
          <p:cNvSpPr txBox="1">
            <a:spLocks noChangeArrowheads="1"/>
          </p:cNvSpPr>
          <p:nvPr/>
        </p:nvSpPr>
        <p:spPr bwMode="auto">
          <a:xfrm>
            <a:off x="5424469" y="18024"/>
            <a:ext cx="1343062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12000" b="1" dirty="0">
                <a:solidFill>
                  <a:prstClr val="white"/>
                </a:solidFill>
                <a:latin typeface="AgencyFB" panose="02000806040000020003" pitchFamily="2" charset="0"/>
                <a:ea typeface="微软雅黑" panose="020B0503020204020204" pitchFamily="34" charset="-122"/>
              </a:rPr>
              <a:t>3</a:t>
            </a:r>
            <a:endParaRPr lang="en-US" altLang="zh-CN" sz="12000" b="1" dirty="0">
              <a:solidFill>
                <a:prstClr val="white"/>
              </a:solidFill>
              <a:latin typeface="AgencyFB" panose="02000806040000020003" pitchFamily="2" charset="0"/>
              <a:ea typeface="微软雅黑" panose="020B0503020204020204" pitchFamily="34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5176768" y="1629977"/>
            <a:ext cx="183846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1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1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THREE</a:t>
            </a:r>
            <a:endParaRPr lang="en-US" altLang="zh-CN" sz="1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763813" y="5818690"/>
            <a:ext cx="664374" cy="572736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5" grpId="0"/>
      <p:bldP spid="15" grpId="1"/>
      <p:bldP spid="14" grpId="0" animBg="1"/>
      <p:bldP spid="14" grpId="1" animBg="1"/>
      <p:bldP spid="14" grpId="2" animBg="1"/>
      <p:bldP spid="24" grpId="0" animBg="1"/>
      <p:bldP spid="24" grpId="1" animBg="1"/>
      <p:bldP spid="24" grpId="2" animBg="1"/>
      <p:bldP spid="26" grpId="0"/>
      <p:bldP spid="26" grpId="1"/>
      <p:bldP spid="26" grpId="2"/>
      <p:bldP spid="16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3"/>
          <p:cNvSpPr>
            <a:spLocks noChangeArrowheads="1"/>
          </p:cNvSpPr>
          <p:nvPr/>
        </p:nvSpPr>
        <p:spPr bwMode="auto">
          <a:xfrm>
            <a:off x="798575" y="234824"/>
            <a:ext cx="462254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Impact" panose="020B0806030902050204" pitchFamily="34" charset="0"/>
              </a:rPr>
              <a:t>总体流程图</a:t>
            </a:r>
            <a:endParaRPr lang="zh-CN" altLang="en-US" sz="28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Impact" panose="020B0806030902050204" pitchFamily="34" charset="0"/>
            </a:endParaRPr>
          </a:p>
        </p:txBody>
      </p:sp>
      <p:sp>
        <p:nvSpPr>
          <p:cNvPr id="28" name="等腰三角形 27"/>
          <p:cNvSpPr/>
          <p:nvPr/>
        </p:nvSpPr>
        <p:spPr>
          <a:xfrm rot="5400000">
            <a:off x="310761" y="325508"/>
            <a:ext cx="396547" cy="341851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6720" y="4445"/>
            <a:ext cx="6257925" cy="68484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22" grpId="0"/>
      <p:bldP spid="22" grpId="1"/>
      <p:bldP spid="28" grpId="0" animBg="1"/>
      <p:bldP spid="2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3"/>
          <p:cNvSpPr>
            <a:spLocks noChangeArrowheads="1"/>
          </p:cNvSpPr>
          <p:nvPr/>
        </p:nvSpPr>
        <p:spPr bwMode="auto">
          <a:xfrm>
            <a:off x="798830" y="234950"/>
            <a:ext cx="594995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Impact" panose="020B0806030902050204" pitchFamily="34" charset="0"/>
              </a:rPr>
              <a:t>系统预期使用流程</a:t>
            </a:r>
            <a:endParaRPr lang="zh-CN" altLang="en-US" sz="28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Impact" panose="020B0806030902050204" pitchFamily="34" charset="0"/>
            </a:endParaRPr>
          </a:p>
        </p:txBody>
      </p:sp>
      <p:sp>
        <p:nvSpPr>
          <p:cNvPr id="28" name="等腰三角形 27"/>
          <p:cNvSpPr/>
          <p:nvPr/>
        </p:nvSpPr>
        <p:spPr>
          <a:xfrm rot="5400000">
            <a:off x="310761" y="325508"/>
            <a:ext cx="396547" cy="341851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5300" y="609600"/>
            <a:ext cx="3581400" cy="5638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27" grpId="0"/>
      <p:bldP spid="27" grpId="1"/>
      <p:bldP spid="28" grpId="0" animBg="1"/>
      <p:bldP spid="28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2"/>
          <p:cNvSpPr txBox="1">
            <a:spLocks noChangeArrowheads="1"/>
          </p:cNvSpPr>
          <p:nvPr/>
        </p:nvSpPr>
        <p:spPr bwMode="auto">
          <a:xfrm>
            <a:off x="1870710" y="3696335"/>
            <a:ext cx="844994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zh-CN" altLang="en-US" sz="4800" kern="100" dirty="0">
                <a:cs typeface="Times New Roman" panose="02020603050405020304" pitchFamily="18" charset="0"/>
                <a:sym typeface="+mn-ea"/>
              </a:rPr>
              <a:t>预期研究成果</a:t>
            </a:r>
            <a:endParaRPr lang="zh-CN" altLang="en-US" sz="4800" dirty="0"/>
          </a:p>
        </p:txBody>
      </p:sp>
      <p:sp>
        <p:nvSpPr>
          <p:cNvPr id="14" name="Freeform 5"/>
          <p:cNvSpPr/>
          <p:nvPr/>
        </p:nvSpPr>
        <p:spPr bwMode="auto">
          <a:xfrm>
            <a:off x="4454430" y="-1323744"/>
            <a:ext cx="3283140" cy="3727743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solidFill>
            <a:srgbClr val="093B5C"/>
          </a:solidFill>
          <a:ln w="25400">
            <a:solidFill>
              <a:srgbClr val="083451"/>
            </a:solidFill>
          </a:ln>
          <a:effectLst>
            <a:outerShdw blurRad="381000" dist="254000" dir="2700000" algn="tl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4" name="Freeform 5"/>
          <p:cNvSpPr/>
          <p:nvPr/>
        </p:nvSpPr>
        <p:spPr bwMode="auto">
          <a:xfrm>
            <a:off x="4065249" y="-1765627"/>
            <a:ext cx="4061502" cy="4611510"/>
          </a:xfrm>
          <a:custGeom>
            <a:avLst/>
            <a:gdLst>
              <a:gd name="T0" fmla="*/ 6935 w 12812"/>
              <a:gd name="T1" fmla="*/ 195 h 14572"/>
              <a:gd name="T2" fmla="*/ 9609 w 12812"/>
              <a:gd name="T3" fmla="*/ 1739 h 14572"/>
              <a:gd name="T4" fmla="*/ 12283 w 12812"/>
              <a:gd name="T5" fmla="*/ 3282 h 14572"/>
              <a:gd name="T6" fmla="*/ 12812 w 12812"/>
              <a:gd name="T7" fmla="*/ 4199 h 14572"/>
              <a:gd name="T8" fmla="*/ 12812 w 12812"/>
              <a:gd name="T9" fmla="*/ 7286 h 14572"/>
              <a:gd name="T10" fmla="*/ 12812 w 12812"/>
              <a:gd name="T11" fmla="*/ 10374 h 14572"/>
              <a:gd name="T12" fmla="*/ 12283 w 12812"/>
              <a:gd name="T13" fmla="*/ 11290 h 14572"/>
              <a:gd name="T14" fmla="*/ 9609 w 12812"/>
              <a:gd name="T15" fmla="*/ 12834 h 14572"/>
              <a:gd name="T16" fmla="*/ 6935 w 12812"/>
              <a:gd name="T17" fmla="*/ 14378 h 14572"/>
              <a:gd name="T18" fmla="*/ 5877 w 12812"/>
              <a:gd name="T19" fmla="*/ 14378 h 14572"/>
              <a:gd name="T20" fmla="*/ 3203 w 12812"/>
              <a:gd name="T21" fmla="*/ 12834 h 14572"/>
              <a:gd name="T22" fmla="*/ 529 w 12812"/>
              <a:gd name="T23" fmla="*/ 11290 h 14572"/>
              <a:gd name="T24" fmla="*/ 0 w 12812"/>
              <a:gd name="T25" fmla="*/ 10374 h 14572"/>
              <a:gd name="T26" fmla="*/ 0 w 12812"/>
              <a:gd name="T27" fmla="*/ 7286 h 14572"/>
              <a:gd name="T28" fmla="*/ 0 w 12812"/>
              <a:gd name="T29" fmla="*/ 4199 h 14572"/>
              <a:gd name="T30" fmla="*/ 529 w 12812"/>
              <a:gd name="T31" fmla="*/ 3282 h 14572"/>
              <a:gd name="T32" fmla="*/ 3203 w 12812"/>
              <a:gd name="T33" fmla="*/ 1739 h 14572"/>
              <a:gd name="T34" fmla="*/ 5877 w 12812"/>
              <a:gd name="T35" fmla="*/ 195 h 14572"/>
              <a:gd name="T36" fmla="*/ 6935 w 12812"/>
              <a:gd name="T37" fmla="*/ 195 h 14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2812" h="14572">
                <a:moveTo>
                  <a:pt x="6935" y="195"/>
                </a:moveTo>
                <a:lnTo>
                  <a:pt x="9609" y="1739"/>
                </a:lnTo>
                <a:lnTo>
                  <a:pt x="12283" y="3282"/>
                </a:lnTo>
                <a:cubicBezTo>
                  <a:pt x="12620" y="3477"/>
                  <a:pt x="12812" y="3810"/>
                  <a:pt x="12812" y="4199"/>
                </a:cubicBezTo>
                <a:lnTo>
                  <a:pt x="12812" y="7286"/>
                </a:lnTo>
                <a:lnTo>
                  <a:pt x="12812" y="10374"/>
                </a:lnTo>
                <a:cubicBezTo>
                  <a:pt x="12812" y="10763"/>
                  <a:pt x="12620" y="11096"/>
                  <a:pt x="12283" y="11290"/>
                </a:cubicBezTo>
                <a:lnTo>
                  <a:pt x="9609" y="12834"/>
                </a:lnTo>
                <a:lnTo>
                  <a:pt x="6935" y="14378"/>
                </a:lnTo>
                <a:cubicBezTo>
                  <a:pt x="6599" y="14572"/>
                  <a:pt x="6213" y="14572"/>
                  <a:pt x="5877" y="14378"/>
                </a:cubicBezTo>
                <a:lnTo>
                  <a:pt x="3203" y="12834"/>
                </a:lnTo>
                <a:lnTo>
                  <a:pt x="529" y="11290"/>
                </a:lnTo>
                <a:cubicBezTo>
                  <a:pt x="193" y="11096"/>
                  <a:pt x="0" y="10763"/>
                  <a:pt x="0" y="10374"/>
                </a:cubicBezTo>
                <a:lnTo>
                  <a:pt x="0" y="7286"/>
                </a:lnTo>
                <a:lnTo>
                  <a:pt x="0" y="4199"/>
                </a:lnTo>
                <a:cubicBezTo>
                  <a:pt x="0" y="3810"/>
                  <a:pt x="193" y="3477"/>
                  <a:pt x="529" y="3282"/>
                </a:cubicBezTo>
                <a:lnTo>
                  <a:pt x="3203" y="1739"/>
                </a:lnTo>
                <a:lnTo>
                  <a:pt x="5877" y="195"/>
                </a:lnTo>
                <a:cubicBezTo>
                  <a:pt x="6213" y="0"/>
                  <a:pt x="6599" y="0"/>
                  <a:pt x="6935" y="195"/>
                </a:cubicBezTo>
                <a:close/>
              </a:path>
            </a:pathLst>
          </a:cu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12"/>
          <p:cNvSpPr txBox="1">
            <a:spLocks noChangeArrowheads="1"/>
          </p:cNvSpPr>
          <p:nvPr/>
        </p:nvSpPr>
        <p:spPr bwMode="auto">
          <a:xfrm>
            <a:off x="5424469" y="18024"/>
            <a:ext cx="1343062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12000" b="1" dirty="0">
                <a:solidFill>
                  <a:prstClr val="white"/>
                </a:solidFill>
                <a:latin typeface="AgencyFB" panose="02000806040000020003" pitchFamily="2" charset="0"/>
                <a:ea typeface="微软雅黑" panose="020B0503020204020204" pitchFamily="34" charset="-122"/>
              </a:rPr>
              <a:t>4</a:t>
            </a:r>
            <a:endParaRPr lang="en-US" altLang="zh-CN" sz="12000" b="1" dirty="0">
              <a:solidFill>
                <a:prstClr val="white"/>
              </a:solidFill>
              <a:latin typeface="AgencyFB" panose="02000806040000020003" pitchFamily="2" charset="0"/>
              <a:ea typeface="微软雅黑" panose="020B0503020204020204" pitchFamily="34" charset="-122"/>
            </a:endParaRPr>
          </a:p>
        </p:txBody>
      </p:sp>
      <p:sp>
        <p:nvSpPr>
          <p:cNvPr id="16" name="文本框 14"/>
          <p:cNvSpPr txBox="1">
            <a:spLocks noChangeArrowheads="1"/>
          </p:cNvSpPr>
          <p:nvPr/>
        </p:nvSpPr>
        <p:spPr bwMode="auto">
          <a:xfrm>
            <a:off x="5176768" y="1629977"/>
            <a:ext cx="183846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itchFamily="2" charset="-122"/>
                <a:ea typeface="方正正黑简体" pitchFamily="2" charset="-122"/>
              </a:defRPr>
            </a:lvl9pPr>
          </a:lstStyle>
          <a:p>
            <a:pPr algn="ctr"/>
            <a:r>
              <a:rPr lang="en-US" altLang="zh-CN" sz="1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 </a:t>
            </a:r>
            <a:r>
              <a:rPr lang="en-US" altLang="zh-CN" sz="18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FOUR</a:t>
            </a:r>
            <a:endParaRPr lang="en-US" altLang="zh-CN" sz="18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5763813" y="5818690"/>
            <a:ext cx="664374" cy="572736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15" grpId="0"/>
      <p:bldP spid="15" grpId="1"/>
      <p:bldP spid="14" grpId="0" animBg="1"/>
      <p:bldP spid="14" grpId="1" animBg="1"/>
      <p:bldP spid="14" grpId="2" animBg="1"/>
      <p:bldP spid="24" grpId="0" animBg="1"/>
      <p:bldP spid="24" grpId="1" animBg="1"/>
      <p:bldP spid="24" grpId="2" animBg="1"/>
      <p:bldP spid="26" grpId="0"/>
      <p:bldP spid="26" grpId="1"/>
      <p:bldP spid="26" grpId="2"/>
      <p:bldP spid="16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8279215" y="1288208"/>
            <a:ext cx="3054265" cy="4292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本研究将从程序设计算法学习资源的收集与整理起步，构建知识图谱和学习资源数据库，为系统提供知识支撑；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接着深入研究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大模型技术和知识图谱构建方法，为系统设计提供理论依据；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随后针对程序设计答疑的核心需求，设计并实现问题识别与解析模块、答案生成模块、学习资源推荐模块等关键组件；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系统开发，将训练好的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大模型接入系统，并进行本地测试与验证，形成完整的答疑系统。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279213" y="756637"/>
            <a:ext cx="3054267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endParaRPr lang="zh-CN" altLang="en-US" sz="2000" b="1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3"/>
          <p:cNvSpPr>
            <a:spLocks noChangeArrowheads="1"/>
          </p:cNvSpPr>
          <p:nvPr/>
        </p:nvSpPr>
        <p:spPr bwMode="auto">
          <a:xfrm>
            <a:off x="798575" y="234824"/>
            <a:ext cx="4622544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Impact" panose="020B0806030902050204" pitchFamily="34" charset="0"/>
              </a:rPr>
              <a:t>预期研究成果</a:t>
            </a:r>
            <a:endParaRPr lang="zh-CN" altLang="en-US" sz="2800" b="1" kern="1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Impact" panose="020B0806030902050204" pitchFamily="34" charset="0"/>
            </a:endParaRPr>
          </a:p>
        </p:txBody>
      </p:sp>
      <p:sp>
        <p:nvSpPr>
          <p:cNvPr id="25" name="等腰三角形 24"/>
          <p:cNvSpPr/>
          <p:nvPr/>
        </p:nvSpPr>
        <p:spPr>
          <a:xfrm rot="5400000">
            <a:off x="310761" y="325508"/>
            <a:ext cx="396547" cy="341851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545" y="1377950"/>
            <a:ext cx="7599680" cy="45364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43" grpId="0"/>
      <p:bldP spid="44" grpId="0"/>
      <p:bldP spid="23" grpId="0"/>
      <p:bldP spid="23" grpId="1"/>
      <p:bldP spid="25" grpId="0" animBg="1"/>
      <p:bldP spid="25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873647" y="981238"/>
            <a:ext cx="4444706" cy="1107988"/>
          </a:xfrm>
          <a:prstGeom prst="rect">
            <a:avLst/>
          </a:prstGeom>
        </p:spPr>
        <p:txBody>
          <a:bodyPr wrap="square" lIns="91432" tIns="45716" rIns="91432" bIns="45716" anchor="t">
            <a:spAutoFit/>
          </a:bodyPr>
          <a:lstStyle/>
          <a:p>
            <a:pPr algn="ctr" fontAlgn="ctr"/>
            <a:r>
              <a:rPr lang="en-US" altLang="zh-CN" sz="6600" b="1" spc="800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6600" b="1" spc="800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249730" y="4109522"/>
            <a:ext cx="5791397" cy="643890"/>
          </a:xfrm>
          <a:prstGeom prst="rect">
            <a:avLst/>
          </a:prstGeom>
        </p:spPr>
        <p:txBody>
          <a:bodyPr wrap="square" lIns="91432" tIns="45716" rIns="91432" bIns="45716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093B5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恳请各位老师指正！</a:t>
            </a:r>
            <a:endParaRPr lang="zh-CN" altLang="en-US" sz="3600" b="1" dirty="0">
              <a:solidFill>
                <a:srgbClr val="093B5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等腰三角形 4"/>
          <p:cNvSpPr/>
          <p:nvPr/>
        </p:nvSpPr>
        <p:spPr>
          <a:xfrm>
            <a:off x="5763813" y="5818690"/>
            <a:ext cx="664374" cy="572736"/>
          </a:xfrm>
          <a:prstGeom prst="triangle">
            <a:avLst/>
          </a:prstGeom>
          <a:noFill/>
          <a:ln w="12700">
            <a:solidFill>
              <a:srgbClr val="093B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  <p:bldLst>
      <p:bldP spid="8" grpId="0"/>
      <p:bldP spid="10" grpId="0"/>
      <p:bldP spid="5" grpId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2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3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4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5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6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7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8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9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10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11.xml><?xml version="1.0" encoding="utf-8"?>
<p:tagLst xmlns:p="http://schemas.openxmlformats.org/presentationml/2006/main">
  <p:tag name="KSO_WM_DIAGRAM_VIRTUALLY_FRAME" val="{&quot;height&quot;:347.6875590551181,&quot;left&quot;:8.65,&quot;top&quot;:96.15,&quot;width&quot;:880.9369291338583}"/>
</p:tagLst>
</file>

<file path=ppt/tags/tag12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13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14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15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16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17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18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19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0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1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2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3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4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5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6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7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8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29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30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31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32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33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34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35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36.xml><?xml version="1.0" encoding="utf-8"?>
<p:tagLst xmlns:p="http://schemas.openxmlformats.org/presentationml/2006/main">
  <p:tag name="KSO_WM_DIAGRAM_VIRTUALLY_FRAME" val="{&quot;height&quot;:348.6518897637795,&quot;left&quot;:79.11094488188976,&quot;top&quot;:119.90826771653545,&quot;width&quot;:807.9496062992126}"/>
</p:tagLst>
</file>

<file path=ppt/tags/tag37.xml><?xml version="1.0" encoding="utf-8"?>
<p:tagLst xmlns:p="http://schemas.openxmlformats.org/presentationml/2006/main">
  <p:tag name="ISPRING_ULTRA_SCORM_COURSE_ID" val="FF06BB66-DAEF-4369-B8FC-1EE6358DF4B6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DkVvkg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A5Fb5IzRbB6igDAACGDAAAJwAAAHVuaXZlcnNhbC9mbGFzaF9wdWJsaXNoaW5nX3NldHRpbmdzLnhtbNVX3W7aMBS+5yksT70soR1dOxSopgIaaguosK29qkxsiFXHzmIbSq/2NHuwPcmOY6Cgdl36g7QhIeLz853/ExMe3yYCTVmmuZJ1vFeuYMRkpCiXkzr+MmzvHmGkDZGUCCVZHUuF0XGjFKZ2JLiOB8wYENUIYKSupaaOY2PSWhDMZrMy12nmuEpYA/i6HKkkSDOmmTQsC1JB5vBj5inTeIFQAAC+iZILtUaphFDokc4VtYIhTsFzyV1QRLQF0TEOvNiIRDeTTFlJT5RQGcomozp+V8k/SxkP1eQJky4nugFERzY1Qil3XhAx4HcMxYxPYnD3sIrRjFMT1/F+1aGAdPAQJcf2oROHcqIgB9Is4BNmCCWG+KO3Z9it0UuCJ9G5JAmPhsBBLv46bg6vP1/1Wxdnne7p9bDXOxt2+t6JXCfYxAmDTUMhOKRsFrGVnZAYQ6IY/AadMRGahcE6aSk2VnLDOXdGIyUg97kWtFEyYrRLErZWjcENl22Q3MNoDIGIeR1/yjgRGHFDBI9WytqOtOEmr3p7XRIBFrQnQ+cDfG/eZyeKSabZultLjnY5jxrflBUUzZVFgt8wZBSC+G0CTzFD68VB40wlORXaxyAtOFiccjZj9DjP6QLwT4auwERiQRN6NRXMeAvfLb9DIzZWGeAyMoXOBjrXHr/8LOCUaH0PSpY+7gzOOs3WdafbbF3uuAAJnRIZPRMcCs6S1GwFn8yRVGapB+mIiNUsLwrlNOcVia388jJonljhy/zWxViD3mJJtmPlOYX5qweFzcZkmg+iG64cGkaQQ0k8JjAiWBdcWlYUMCISKSnmiESw1rQb6ylXVgPFD7CH1i/30OsjLvPTBFYbWMwoywpBVvb231cPPhwefayVg18/fu4+qbRY+H1BnDm/8U+eXPmrtf9wG4aB29KPL22T2X9zZ/cvWl+L5LXbuhwWKmlrUAiuV0Sqd1pE6sK/ZPprL5hCLsBSmvghg7UkeMINo2/ZYi9ok1e9232PbadNthjza0bjvwnZn1bXxI17YRg8enF1nIRLnkAi3Epc3XYbB9UK3DQfZZVKgLb536FR+g1QSwMEFAACAAgAORW+SHMKv3S0AgAAUAoAACEAAAB1bml2ZXJzYWwvZmxhc2hfc2tpbl9zZXR0aW5ncy54bWyVVm1v2jAQ/r5fgdh30r2ySSlSS5lUia1VW/W7kxyJhWNH9oWOfz/bsRsbCGRYlfDd8/jej6ZqS/niw2SS5oIJ+QyIlJfKSLxsQovradYiCj7LBUfgOONC1oRNFx9/2U+aWOQlltiBHMvZkBx6M3P7GUNxNr7NzRki5KJuCN+vRSlmGcm3pRQtLy66Vu0bkIzyrUZe/ZwvV4MGGFV4j1BHPq1+mDOO0khQCoxL31fmXGQxkgHzlq7sZySnN3U++gPajiqKlnbzyZwhWkNKiJN83jtdGP16XJW5OecJCH9RQ798NmcQysgeZPz43VdzBhmiaZv/6ZFGitIkNOacL+I7hwlS6PEzXl2Zc5FgAjKGLlbBpcfGeheA3Ndw7lMzrlKwR5PXg4Vgip4xWKBsIU38rdOpSrw9tKjnAxYbwpQGhKIe9KidfiSt8s/Esh73BG+UFwHICXrEq2BtDcvO3wAYy3v8cnlrV0Xo37sscFDCzgkDD3thj/yj03qEDIQ98pnRAh442x/BDzUdx5f4lrhins++1gIn+urz5W9eayytzeCqwLQTeEwtClgo484LrcFULU2srHMpOfIp5WRHS4JU8N8Gl+1tMCpNDhSu0073VYoUGZxqN+ujXtJhvew97kanjdux+1Hog+vuE9Q7/HpKEEle1fpHSU0njqeHRCdmmpxmmC2p4SDv+UaM5NREbkG+CMHGWuECIcTayIbAopusIXiaBClIk9NJTt0jp7LP2zoDudJFo+C7JpZ1uIqWFdN/+ErhDYqYMKDsmFjp5zih700ZCFwHAJF55Vu2u3SaumVIGezAD34gsAEPRZYq3aJD3XaDa9hg2G9OMqoh3Z7oGyXExYoThFftl4g3TqgY0fNIMmUji8beb+D+5Wgn+1VmWi/cYvbuOil6WOuPM6iF5j/Jf1BLAwQUAAIACAA5Fb5ILE+2i/0CAACXCwAAJgAAAHVuaXZlcnNhbC9odG1sX3B1Ymxpc2hpbmdfc2V0dGluZ3MueG1szZbdUhoxFIDveYpMOl7KqrXVMrs4HcHRqRVGaKtXTtgENmM22eYHxKs+TR+sT9KTDSCMlq6OdMoMAznJ+c5fcpL46C4XaMy04UomeLe+gxGTqaJcjhL8pX+yfYiRsURSIpRkCZYKo6NmLS7cQHCT9Zi1sNQgwEjTKGyCM2uLRhRNJpM6N4X2s0o4C3xTT1UeFZoZJi3TUSHIFH7stGAGzwgVAPDNlZypNWs1hOJA+qyoEwxxCp5L7oMi4tTmAkdh1YCktyOtnKTHSiiN9GiQ4Dc75We+JpBaPGfSp8Q0QejFtkEo5d4JInr8nqGM8VEG3h7sYzTh1GYJ3tv3FFgdPaaU7BA58ZRjBSmQdobPmSWUWBKGwZ5ld9bMBUFEp5LkPO3DDPLhJ7jVvzm97rYvz88uPt30O53z/lk3OFHqRKucOFo1FINDyumULezExFqSZuA36AyJMCyOlkXzZUMlV5zzYzRQAlJfamE0BE/FNMEfNScCI26J4Oli1hI9YvaEC4jB6+7Wh9LiB2CIN82INmzZ0HzG+CymzW/KCYqmyiHBbxmyCkFELod/GUPL6UZDrfJSKoixyAhOGRpzNmH0qMzSDPgnQ9dgInegCZuvEMwGC98dv0cDNlQauIyMYauCnJvArz8LXBBjHqBk7uNW7/ys1b45u2i1r7Z8gISOiUyfCYcSsrywG+GTKZLKzvUgHSlxhpVFoZyWc1Viq7+8DIbnToQyv3YxltAbLMlmrDynMH/1oLLZjIzLg+gPV4mGI8ihJIEJEykcdy4dqwpMiURKiikiKTQq44/1mCtnQBIOcECbl3sY9BGX5WgENwdY1JTpSsid3b23++/eHxx+aNSjXz9+bq9VmrXwriDeXOjhx2ub+KKRP+6GceR759Nt2Gr3r7pw97L9tUqmLtpX/UpFavcq4TpVVnU+VVl1Ga6N7tKVUckFaDOjcGyg0Qiec8voa26aFxR+/f0btsUrFX6DUazdvv9vEGG0eG6tvK/i6MkHYA3kq4/pZu03UEsDBBQAAgAIADkVvkjtpyr3oAEAAC0GAAAfAAAAdW5pdmVyc2FsL2h0bWxfc2tpbl9zZXR0aW5ncy5qc42UTW/CMAyG7/yKKrtOiH2y7TYNJiFxmDRu0w6hmFKRxlGSdjDEf18dvpo2HcSX5u3T17ErZ9OJysViFr1EG/fs9h/+3mlAmtU5XPu6aNEz0pkR6QwmaQYilcBqSHH49ChvT0TImElnOl1/kq2p+DGkN3MuTBVXAQsd0ExAKwLaT0BbhRL/epXtq9pVVGnzNLcWZTdGaUHarkSdccewq3e3qgXWYCxAn0HnPAbPtO9WG3lyfOhTVLkYM8XleowJdqc8XiYaczlry79YK9DlD1/ugN5z/23o2YnU2JGFrJ54+ETRTioNxsA+7+OQIggLPgVR8e259Q/qGTcLqtFFalJ7oF9vKKq04gk0utQ8QtnQ0qvRzT5Fk7Owsjvi7pbCIwRfg25YDe4pPBBVri74gUpjQh1poM2eH1GBfJbKZJ+6RxHk6LBk29a9U6Hu+APmjRDWRmgRmMis7eK4YOptcHBNLes4NPMiJIbyYkBToY+Lo+idxtavEdp/RYxby+NFVt4O5c1IHQdTPoMeyTmSkHG9BD1BFGU93+dOXk/e2f4BUEsDBBQAAgAIADkVvkg9PC/RwQAAAOUBAAAaAAAAdW5pdmVyc2FsL2kxOG5fcHJlc2V0cy54bWydkbEKwjAQhvc+RbjdxG6lJHUT3Bx0lpqmGmkvJZdaH9+UinSRgEMg//F9PyQnd6++Y0/jyTpUkPMtMIPaNRZvCs6n/aYARqHGpu4cGgXogO2qTNq8wKM3ZAKxWIGk4B7CUAoxTRO3NPjYQK4bQywmrl0v4ukditkUw6LC4pb2L/szgyrLGJPX0XbhgFW8x7QgjLxWMDsXjdxi60D8AhqTAEyqwVACaH0CeAwJwI8rQIrvm+ekRwrxo2KQYrWeKnsDUEsDBBQAAgAIADkVvkgM0rasbgAAAG4AAAAcAAAAdW5pdmVyc2FsL2xvY2FsX3NldHRpbmdzLnhtbLOxr8jNUShLLSrOzM+zVTLUM1BSSM1Lzk/JzEu3VQoNcdO1UFIoLknMS0nMyc9LtVXKy1dSsLfjssnJT07MCU4tKQEqLFYoyEmsTC0KSc0FMkpS/RJzgSqftq542bxCQVfhyf51z6bsVNK34wIAUEsDBBQAAgAIAESU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DkVvkg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ORW+SNrVd8wyEwAAEV4AABcAAAB1bml2ZXJzYWwvdW5pdmVyc2FsLnBuZ+3caVhSWdwAcMvJmXFrm3C3xcnKRAfN3FLLZWwm16xMXFKZcgvRTE0RKZuyRLFmMTOXxBLU0lQEN7AytUUlAiVXEnJDAQ0RFZeXZprnKed95+P76fo84gPHc8/vHu793/85H/7XPdycVRQ1FeXk5FR+Oux4VE7uK7CcnDz0GwXZJw+VSYuyP2tijjrby5V3ao/L3nwVcsj1kJxcZabSYtA62ftvow77xMjJqTZ//F3ThiD8IifnX/yT46FjFwL4A+6YyV8G24ZEOUlrqBd7VNvt+681HDpzouju3bFtVpgnG7/y3BB7f7dJ81nHr/zH7qbcvbZtB6/VbhvBWmfFkyaaGK3bOXKM53Y0z4ptizLbl2hVwmP6e+N/c99ZsrfhCSuejSJLJ6tpcQVJH170SKTCJmGf+g+P5eSVP395fEYBepmg6+kfPBd7f4mLMaa+Pbvm2frp1DUK6oEXP38ZUSfY0qmduBZzdpLeScIZ5dXH2hB018oJ5T8/lLp1ByjUDQ7JNGhbPdrwDx4Uzs95ppxvm7Tda0d7RO1f/keUp/KxitoPskOkgVRXgi6uUlzaLd+1t9zvj6fBll0HVwONbq2h2/+EMQg7cfBWxLr387NJpp8PvV0edyV0O/Rf6rCDRDnTTcW9pSSTL5uugWQdnqw6g4P31tDXth/OTivFvfyyaRtU1mGd/KppuangqPSDXpBBaZrBl00XZZZroNWT6Ki5Afw4/dcSgkHpqqb/xONKCQAewAN4AA/gATyAB/AAHsADeAAP4AE8gAfwAB7AA3gAD+ABPIAH8AAewAN4AA/gATyAB/AAHsADeAAP4AE8gAfwAB7AA3gAD+ABPIAH8AAewAN4AA/gATyAB/AAHsADeAAP4AE8gAfwAB7AA3gAD+ABPIAH8P9PeG/qyrI0DwFbXddKTj5MNgT9R2LwqhpS295cDF1z5vt2Yn1IwnchXzS9m/nYxZ4Y+L93cVknmlnHyNaK+bzxsOl/nmBxl82rIgvTL5rw5v89J9l44+zW/uzPOx3MWSNzbQCvqnilfm3fIwNokpRPblA7lRQtGSvKFOheeHdpQCe+f6PE/9XxV96vfF7dOYExzEx58flQt7oeRxWYRKPPCUy6bENQK6KCFT8i2yezKZIRaSeR7Owki5MlnNDp4VunBIK60fzaw9FjL8qGHw5TH+z9KrMPs/1z+z31uRmGO4y9aKuvyEwOsSENWrAOqMELEjtrmZfkY3TRiKRWhpozJiQ/YcR+HWZ/bU3/ka9DOheNG6eellNH25Es/3i+7fz738tGlmjo5Wrk+5vOndSCRF6Jj8RsVHIbv/J0ZhApXLKaNabMvEG0Js81MpO8uD40H+QydYFXxm4nzyTkmZzTbSoiG663nXsneM090M1I2FpYMxtq8Iq+0mAxWxeHhP1TasxLgdfxnlkkHp3MlowkfHixq0EaY+YuTDbizSRG0qQXL7XQOThQIVQgCkjoxr5XMe+PIjVbjVIRFHF32UjZO0+7Cp33C8sDwuT4WbalJCSfe0o5fHLvCWb2yjwNbStd0WSlrefXEcLQc81b9S97DZSPlPR1J/ET9qhtWQtdJKwIbUKk6cTT1iPx2tCsxAdi9ZcfTsySbO0jBPRjWdy5ptv5QYwMyKfZddEgmGfqJo4VTsSlUq5cHWQ/dlLZFHOrIZ8ranRs5oRC4g9tHp0Y8jGhxH0I/7pm2XoXlLkRJI2DTuSJh7DBSPOkF1XZ8QNKDpiN8EXe7suKW8RC0u/s4uN3S0dLl/0LS2xCwInE+ZcO1h+Kdzyeeo7RQjRGI+ZCyXkmVbPxTFio8+xHZXuH6ASd851zaIdlzstzD6S+lVhI5D9F23QVeImXr0uvj1JcKJVWQvatC2ixn6Q1SHCeHjy8JbgvaCZGz4E/g3W3eyv53vIN57zxN/w/MEMiD2uJWBjtUpo3H/edYwsepG/gqIxgHzhmqL7VjI4l3F7g5v6FEO7FU06HBRWRk2K8DaQj1i0boTHY4iptvFRq1YrpS8z/+26oXVZm1qhuii8nnyzOZ4OTQ3pRnRSqM+JBeH1opQmU+CRPC8zLm5wWq7a6e/B3k+NFowcSRiwjT1OFdRH04EZ5u3SQdEfb22bqPNIz8OVh3+KaJpigaiZLqI7AQ6/PZtHPaUvMGVqnGBnGn76dSVMPvKIfjVWpjoDNLqu61bgmPkS75+m/0cJYMpwwm50wKJZBqLtHS3qO0cncuJ0FIHBx+jWQyO5oHfmNdVcasuPcpD41Hymo6xL+PJPVPMMoj0knT5/563QeKJSPKrkL+qiTNjR8r77rnI24spwyPeaqBnbbAOYRb5RMBBx7RIiAtdcdhglf7EP1KAXlcSDKTs0RUCYttUDRtLG4JSp34nz+0K6nxI+f9YohvYup5WHRz59Xfjw1vwk9cH7ywviAVNjUJJ3jZsZHxDORaHk8NLrCB4vqCOZbtFO+OYawdD1FcoMEtGL+rsJXptI43apVxr5o2UXqS1jJz78sWkaNSySd1kLtLUblPkR1xN31Xy+8JsLyb+jmmzFGc3XPjRV9HzFai3OSztxYEFIznfyrz0bGzF2pbq2zt2+wfTE1k6sIEjceOxYeVOKUPnTFIpVcItW4ej1NpbkvXa91an5cIyz69AuhesC1mM4qv7LQ6Uz0IkwyP1qwMkJblsWpADGn27TpzBKkxrDmsZeEfMaydYJSA/vBr3jwXHYkN+dTyCTteyTeRX7YQ7JugSfCEtNOH17QibEbR4T3O2L0MomEvDdD1h+kCom8Rytx0MOuW5MlggqJc+DColqB5oTVEo7qey+U611417VMb3cvLVWNc/ZQUYd5kgAaSAjbYqqKMnEWzhRCSfebivyvVWchO6u0FXe15eRAw7oVJ+8gqPOxaMoymn0TtLIsaaKNlOmtV/V3qSbnHjkxKEaG+xRznnXTOQ1Cat/x1z5V7Udo+MmMW+Mi1s7Wlychf99rNZdgtoPEwccaaNbNOjgST/JPZUQgpyvbdBvCpWHsJSYtvKFqoI1a5DtBDacuCN/wK/Ov3Jd4i1hVTJj2IAkMs8EuJNhgS9p8GRGL4QtR2hOjsU1iUe9yXv1Sb2XoK2S7GCybiyKn9ffGAx6rzyWfc2LjDq676OAMYobpNVeQ2clIoSoK8WCUepCpdNDp8qyZ7aYHy5TjREJbNzVcAzv/7PfBC9mRS88+xVtfDUKERvvAbK85mymm9mKR8ApXVBcJ1kArSQi3Jo6E9SVx4eVx30cprT2iewThcqufNRetrPcz3I7lLe2J6ktk9yiJr55EqZAhewOZ3lqZLw7xz1bQElwiKhAfkwXnvFNM6eV9A0pBGm/Jm8o29VPDnZdep0WGD1uq6tggIpLbLNyIaMRGMHR4K9aVEliuokaZ/mGAvevTPXw26N3l9bYWBieJ5td6seetNQNrYwZwLVHIR2sdrNPILVeH4LNwJZJ5+lVnCBM+UUZqHplMN7bpje1AkfhDiUn8WS865/USuY/JLYe3g+Ct0cUZwinLk9X93L4/Mu6PyHKKYEjO/eftwpYotmK5jo3n3kEH6+GHy6qZtoQ/+VTeQHWcC1G9LU2EBXGbN5X9ysI8h+Cvz7Q2n0ff+RRiH125JJoj3kBVFuosefSdl+KclhZrWAHSDvrXlFA61lZdIU1RXVwzixujQPyrRXZJmyuu5JjRccnxWm1xv7RS9fLJaaDTRea23HFZ9lap3nH0lxFJ8IWxG02JQZZEjm6+EX3voE3EC3owu6oLMwZh1YxlpI4v79f4O9cIVJKPiHvZRg7rQ9WI/NjgH5laVs2hntaDfCtlbkLvRi0ptldHQCAXmfbGefeVsHmhLDMug3ME7JtxqEHXeakxPvH5XOh1UDiP1KxnfvVVjexiYVcyc0Ojt0GTZujODW1b0YvKz6Yakk8wslRJ85TdfifkU3FOQi+T3pYU6E+2Qj3t3irXvBST2F9bTryiIzf6ngsYPi0eifZl/Z2eRsFVZkghIy4Fvfsj1G6ete5qxtSzOpN0Oqz7A0qlJQUsrHQKeeE7J4yOmB0Xflg4M+yQWTiK6OSy1aLD5/u45W2Wsfda5iqx7O+180EmsQupodMrapVa9tq2e2B3I/KZKPL4UBhj7+Hvuu2Wxt0bmpb4iIbUrclz5mwJG70ikEUjbs8BTkuN//ZOlFtHPLwAD8MSQ8lwY33flhSMLFy3xLDHd3g5w6LQ8AEtNJf2l9pH5cDUY/my8nWQwV0PihR7b4K47tPqBbpv4t61WY9RGA68eFVjjx43FQ3009bfUG8GRdT31KuIRzWPX2MdI/Hx6ZnEsYGVqX18zYJp/G/pmb+MD7B/G//4RbutH89V/SBmnRIuf7jVNGng8h2zRLgr/wLnbH4OObL6/LsOodOkieyO2RGxt6fE4U0rOSx1XKd+21GEy/qHHkh68FwKXdUst74JlgXj2aZ6P9e9ionjY2D2cESCK5n6Ka2+tFMhACXuirkOSjVaWyfMAcGR0Yvj22OM9C0PBMMEs+N7yOtSp09fuPeMynBQhYtISlRWtjKsY8710UMscbfWEcOuRrf1Gk7pVqUc2dPjgLrh1e1FIw/7DHUuiHynT+nLS0/kNrs/H8vbYdKoPkrd1C9oMi+O2Ts1deyP6Zs6XIZT97OUuleQfITFmS1GPDY/jRaRVWQeUOzrDvlU9hUqn2m7MOY5hIv/9RkTn0o0x/XSv/bCp6Y7/Gj9FDci9I95SAaztKoH+XjsUV0jUZT0QpLsQpi5AdrNc7kUVyiJU3RF9nPNFcjXQKdx5vulxRjQ5dBpWUKalzcbPfYNBsWIpM6PDDQtiysGZJF7QpqS8UREs0PHad4QjkMIvPozwyaNHcy0hJNE/FOnpY4aHdFQyM8VPT+d+rDWcy/P4VBgGeNY4isLZTUv/NuODIs224pIhEPWp+dVsfLH9L7MjkQhnQ53lnocIMCZOSGL326t2Txo1NkjCGG7LVpAmW5JdxAvzJ6RBvXhkibEAd6+m6Dvw6maFSVtUO7xvj4z1KJ+YEPB0B4IPClTxQI+PzF2w6TyTN52qDLOyT+wujwIorpZ/J66vDARwubjLjYnLC+wmgQCiiTgCSdlHQZ0+ytMMtGn+tztzeDeEhX4aIMiomEhZomch2AVSzrBk+AQ42/S8ayXsbyopxFbwOEabc4pLuAjiAMu5MJ/Vh6+mnOyQIu16g0eJ/m+XKRAXH06vYzarIWN1QYnmScDqkOjX67JkZZz4eSBuLjCW0E3CIpmtim45P25eNWYuvHiO7JIyqm3CS4ic/iudjOSgJ0NeWiLWP/rVpygpOn7Xsf5ZhOlsNYiibS1EJ/RkzM9BsaP7//lUwx7d1LemDrHua+kRoFMwIX+CEZBwsjtrif2RHV/GqfbF0Hh7caUeNm2OsMWZQ9nNfDHuM2xJ1O2IHToHpCoC/WH+emspj5nd7GgqBjfePBsjbbXk6c3Qft3I0dcQn79awyo5oWxwlSj47VjGeJcfu/E6fwF4o0a/BVi9Pl7LYG7jhBrc1nvoxKf11jbvG/0bt1jvEHttGXiq7B6Fb9PSzqL9fKnkueHPVlkCyG89aGwwvyM78ryPemKbI3VgDCcbT1CVHfEoPCpzDoutwjcyqqRHa4Fq4NrmaXjsPfeJg77yNZBT6u19zcm/viJdfESXJlppkIa1HWpW8kv/GO4P9Fy8AI3QzCbgHiQq1s1ynWT+F8T/ekdMG/mx1zJdFcpUYrudi5YmLmB0TB2xPCLnPLaSOKfozvrzmXB7mTcsDTePwKZ/Sf9T4NXPiRbjvajaQu50toxUXvPfmEGg8dwcJt2Gwa5v86ND2IniTqqIzYZLj1n+EbWnZZMVtPSQGpTOaCPi6pYpE6aKA0iSyyk9CvnJxzWTggbkp0RLSGWZw3F6dmd3/x9/fRpEoqY5LfsI3W0+qsONI+O36safQ2dbdookJMmqOnx7Wo12A6wTTwbJREsS4UFOkbhg/Udvx0yF5L22nPvWFJjbftAxkdjC450/lmtfdt2cSAx4NPCQVuBlLw5DJM3tVNiGdIkwgm8aBqpdQh9o3nkKW2w0Y6qnfKSnpACPq8XJBmIZz+Jmn622T23w0vUDc9Srk8wblPsEU0mnPlsKyFcXqz/xskmZeU1Vtq/1ImpdbcxP2mYYBotYLdyQj3jG7us/4xRCB4/cIR95WGb90bOUOrWwa6gaTF7enwHekXKprntIYSlXFHD1aHPjsCufFYDe8U06ubsntHJy0YDwsbJTPQL9pPS0Mr3an7vE07JYvGALJmpLcu010lm0cJ7nZLPZg0o6a/aralfQw+e+XbHuHv2cPXRVVW2aw0/7oI83aj3f2zCJPiUFraV3PhyT4OhUL4oaVqpYRj4/avE+ME/LvG2eCcvTrcRrhzNPvbj6rrd6oSAaFkCn7wRzNz3r7ZrJh4UzksBukkbXhhYkr3adE+d4OZ5KoSOo8pWMXgC7jcTj6zmreDVWyt4Uw8UDrWkCeZ9bbeyKBLIHtwbjLU3PfvXptEuMw8bXP2zqQm0nOabvltIbJ6SnOznJyc3x3L7wJT/AVBLAwQUAAIACAA5Fb5IbUCbGUoAAABrAAAAGwAAAHVuaXZlcnNhbC91bml2ZXJzYWwucG5nLnhtbLOxr8jNUShLLSrOzM+zVTLUM1Cyt+PlsikoSi3LTC1XqACKGekZQICSQiUqtzwzpSQDKGRgYooQzEjNTM8osVUytzCBC+oDzQQAUEsBAgAAFAACAAgAORW+SBUOrShkBAAABxEAAB0AAAAAAAAAAQAAAAAAAAAAAHVuaXZlcnNhbC9jb21tb25fbWVzc2FnZXMubG5nUEsBAgAAFAACAAgAORW+SM0WweooAwAAhgwAACcAAAAAAAAAAQAAAAAAnwQAAHVuaXZlcnNhbC9mbGFzaF9wdWJsaXNoaW5nX3NldHRpbmdzLnhtbFBLAQIAABQAAgAIADkVvkhzCr90tAIAAFAKAAAhAAAAAAAAAAEAAAAAAAwIAAB1bml2ZXJzYWwvZmxhc2hfc2tpbl9zZXR0aW5ncy54bWxQSwECAAAUAAIACAA5Fb5ILE+2i/0CAACXCwAAJgAAAAAAAAABAAAAAAD/CgAAdW5pdmVyc2FsL2h0bWxfcHVibGlzaGluZ19zZXR0aW5ncy54bWxQSwECAAAUAAIACAA5Fb5I7acq96ABAAAtBgAAHwAAAAAAAAABAAAAAABADgAAdW5pdmVyc2FsL2h0bWxfc2tpbl9zZXR0aW5ncy5qc1BLAQIAABQAAgAIADkVvkg9PC/RwQAAAOUBAAAaAAAAAAAAAAEAAAAAAB0QAAB1bml2ZXJzYWwvaTE4bl9wcmVzZXRzLnhtbFBLAQIAABQAAgAIADkVvkgM0rasbgAAAG4AAAAcAAAAAAAAAAEAAAAAABYRAAB1bml2ZXJzYWwvbG9jYWxfc2V0dGluZ3MueG1sUEsBAgAAFAACAAgARJRXRyO0Tvv7AgAAsAgAABQAAAAAAAAAAQAAAAAAvhEAAHVuaXZlcnNhbC9wbGF5ZXIueG1sUEsBAgAAFAACAAgAORW+SDXb2a1oAQAA8wIAACkAAAAAAAAAAQAAAAAA6xQAAHVuaXZlcnNhbC9za2luX2N1c3RvbWl6YXRpb25fc2V0dGluZ3MueG1sUEsBAgAAFAACAAgAORW+SNrVd8wyEwAAEV4AABcAAAAAAAAAAAAAAAAAmhYAAHVuaXZlcnNhbC91bml2ZXJzYWwucG5nUEsBAgAAFAACAAgAORW+SG1AmxlKAAAAawAAABsAAAAAAAAAAQAAAAAAASoAAHVuaXZlcnNhbC91bml2ZXJzYWwucG5nLnhtbFBLBQYAAAAACwALAEkDAACEKgAAAAA=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888"/>
  <p:tag name="KSO_WPP_MARK_KEY" val="0ad4149b-1f1c-4379-ab69-cdc2004117d2"/>
  <p:tag name="COMMONDATA" val="eyJoZGlkIjoiMjg1ZGRkZGU0MmQwMWZiNTk5ODY1MGFkNTIzOTZiYWU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gradFill flip="none" rotWithShape="1">
          <a:gsLst>
            <a:gs pos="0">
              <a:schemeClr val="bg1"/>
            </a:gs>
            <a:gs pos="100000">
              <a:schemeClr val="bg1">
                <a:lumMod val="75000"/>
              </a:schemeClr>
            </a:gs>
          </a:gsLst>
          <a:lin ang="13500000" scaled="1"/>
          <a:tileRect/>
        </a:gradFill>
        <a:ln w="25400">
          <a:gradFill flip="none" rotWithShape="1">
            <a:gsLst>
              <a:gs pos="0">
                <a:schemeClr val="bg1">
                  <a:lumMod val="100000"/>
                </a:schemeClr>
              </a:gs>
              <a:gs pos="100000">
                <a:schemeClr val="bg1">
                  <a:lumMod val="85000"/>
                </a:schemeClr>
              </a:gs>
            </a:gsLst>
            <a:lin ang="2700000" scaled="1"/>
            <a:tileRect/>
          </a:gradFill>
        </a:ln>
        <a:effectLst>
          <a:outerShdw blurRad="203200" dist="76200" dir="2700000" algn="tl" rotWithShape="0">
            <a:prstClr val="black">
              <a:alpha val="60000"/>
            </a:prstClr>
          </a:outerShdw>
        </a:effectLst>
      </a:spPr>
      <a:bodyPr rtlCol="0" anchor="ctr"/>
      <a:lstStyle>
        <a:defPPr algn="ctr">
          <a:defRPr sz="1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</Words>
  <Application>WPS 演示</Application>
  <PresentationFormat>宽屏</PresentationFormat>
  <Paragraphs>102</Paragraphs>
  <Slides>12</Slides>
  <Notes>43</Notes>
  <HiddenSlides>0</HiddenSlides>
  <MMClips>1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Times New Roman</vt:lpstr>
      <vt:lpstr>方正正黑简体</vt:lpstr>
      <vt:lpstr>黑体</vt:lpstr>
      <vt:lpstr>AgencyFB</vt:lpstr>
      <vt:lpstr>Yu Gothic UI Semibold</vt:lpstr>
      <vt:lpstr>Impact</vt:lpstr>
      <vt:lpstr>Calibri</vt:lpstr>
      <vt:lpstr>仿宋_GB2312</vt:lpstr>
      <vt:lpstr>仿宋</vt:lpstr>
      <vt:lpstr>Calibri</vt:lpstr>
      <vt:lpstr>Giorgio Sans Medium</vt:lpstr>
      <vt:lpstr>Segoe Print</vt:lpstr>
      <vt:lpstr>Noto Sans SC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888</dc:title>
  <dc:creator>huilin</dc:creator>
  <cp:lastModifiedBy>社会主义接班人</cp:lastModifiedBy>
  <cp:revision>395</cp:revision>
  <dcterms:created xsi:type="dcterms:W3CDTF">2016-06-07T09:36:00Z</dcterms:created>
  <dcterms:modified xsi:type="dcterms:W3CDTF">2026-01-13T08:54:26Z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473451622E2B440D8BE9BCEE6AC8C3F1_13</vt:lpwstr>
  </property>
  <property fmtid="{D5CDD505-2E9C-101B-9397-08002B2CF9AE}" pid="3" name="KSOProductBuildVer">
    <vt:lpwstr>2052-12.1.0.24034</vt:lpwstr>
  </property>
</Properties>
</file>